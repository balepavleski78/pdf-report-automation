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jpg" ContentType="image/jpeg"/>
  <Default Extension="mp4" ContentType="video/mp4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6" r:id="rId5"/>
  </p:sldMasterIdLst>
  <p:notesMasterIdLst>
    <p:notesMasterId r:id="rId17"/>
  </p:notesMasterIdLst>
  <p:handoutMasterIdLst>
    <p:handoutMasterId r:id="rId18"/>
  </p:handoutMasterIdLst>
  <p:sldIdLst>
    <p:sldId id="256" r:id="rId6"/>
    <p:sldId id="258" r:id="rId7"/>
    <p:sldId id="259" r:id="rId8"/>
    <p:sldId id="261" r:id="rId9"/>
    <p:sldId id="264" r:id="rId10"/>
    <p:sldId id="262" r:id="rId11"/>
    <p:sldId id="263" r:id="rId12"/>
    <p:sldId id="267" r:id="rId13"/>
    <p:sldId id="268" r:id="rId14"/>
    <p:sldId id="272" r:id="rId15"/>
    <p:sldId id="271" r:id="rId16"/>
  </p:sldIdLst>
  <p:sldSz cx="12192000" cy="6858000"/>
  <p:notesSz cx="6858000" cy="9144000"/>
  <p:custDataLst>
    <p:tags r:id="rId19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FB62C"/>
    <a:srgbClr val="1E467D"/>
    <a:srgbClr val="6FAE40"/>
    <a:srgbClr val="4DA151"/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5936" autoAdjust="0"/>
  </p:normalViewPr>
  <p:slideViewPr>
    <p:cSldViewPr snapToGrid="0">
      <p:cViewPr varScale="1">
        <p:scale>
          <a:sx n="97" d="100"/>
          <a:sy n="97" d="100"/>
        </p:scale>
        <p:origin x="96" y="67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6" d="100"/>
          <a:sy n="76" d="100"/>
        </p:scale>
        <p:origin x="2918" y="7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tags" Target="tags/tag1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theme" Target="theme/theme1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AE9B361-6283-4668-A1BD-335E925BF382}" type="doc">
      <dgm:prSet loTypeId="urn:microsoft.com/office/officeart/2005/8/layout/process4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FA725FB-A94F-4873-B34D-ADD3DC9C4DAC}">
      <dgm:prSet phldrT="[Text]"/>
      <dgm:spPr/>
      <dgm:t>
        <a:bodyPr/>
        <a:lstStyle/>
        <a:p>
          <a:r>
            <a:rPr lang="en-US" dirty="0" smtClean="0"/>
            <a:t>Volkswagen </a:t>
          </a:r>
          <a:r>
            <a:rPr lang="en-US" dirty="0" err="1" smtClean="0"/>
            <a:t>Beon</a:t>
          </a:r>
          <a:endParaRPr lang="en-US" dirty="0"/>
        </a:p>
      </dgm:t>
    </dgm:pt>
    <dgm:pt modelId="{52AD00C5-E3CD-49B9-9946-40FDD295BFE8}" type="parTrans" cxnId="{80407B07-18D1-4A2F-9BD3-14D6ED762F48}">
      <dgm:prSet/>
      <dgm:spPr/>
      <dgm:t>
        <a:bodyPr/>
        <a:lstStyle/>
        <a:p>
          <a:endParaRPr lang="en-US"/>
        </a:p>
      </dgm:t>
    </dgm:pt>
    <dgm:pt modelId="{FA230FD0-A66B-439C-8C15-FD6EE74DA2D3}" type="sibTrans" cxnId="{80407B07-18D1-4A2F-9BD3-14D6ED762F48}">
      <dgm:prSet/>
      <dgm:spPr/>
      <dgm:t>
        <a:bodyPr/>
        <a:lstStyle/>
        <a:p>
          <a:endParaRPr lang="en-US"/>
        </a:p>
      </dgm:t>
    </dgm:pt>
    <dgm:pt modelId="{3545E527-8B7E-4BAA-B410-F6CF52FFD842}">
      <dgm:prSet phldrT="[Text]"/>
      <dgm:spPr/>
      <dgm:t>
        <a:bodyPr/>
        <a:lstStyle/>
        <a:p>
          <a:r>
            <a:rPr lang="en-US" dirty="0" smtClean="0"/>
            <a:t>Login -&gt; Open Transaction -&gt; Load Data -&gt; Enter Data -&gt; Attach PDF -&gt; Complete -&gt; Repeat</a:t>
          </a:r>
          <a:endParaRPr lang="en-US" dirty="0"/>
        </a:p>
      </dgm:t>
    </dgm:pt>
    <dgm:pt modelId="{15DD8775-57AB-4FA7-920E-4E3362FF5956}">
      <dgm:prSet phldrT="[Text]"/>
      <dgm:spPr/>
      <dgm:t>
        <a:bodyPr/>
        <a:lstStyle/>
        <a:p>
          <a:r>
            <a:rPr lang="en-US" dirty="0" smtClean="0"/>
            <a:t>Automation 2 – Excel -&gt; SAP </a:t>
          </a:r>
          <a:r>
            <a:rPr lang="en-US" dirty="0" err="1" smtClean="0"/>
            <a:t>Doculink</a:t>
          </a:r>
          <a:endParaRPr lang="en-US" dirty="0"/>
        </a:p>
      </dgm:t>
    </dgm:pt>
    <dgm:pt modelId="{6F27F2D4-0070-4D0A-B30D-1D7C4DA93F82}" type="sibTrans" cxnId="{6507C267-45D2-442B-9856-A6528B1ABC13}">
      <dgm:prSet/>
      <dgm:spPr/>
      <dgm:t>
        <a:bodyPr/>
        <a:lstStyle/>
        <a:p>
          <a:endParaRPr lang="en-US"/>
        </a:p>
      </dgm:t>
    </dgm:pt>
    <dgm:pt modelId="{09407518-2C7B-493E-BED6-CC08938BA9B3}" type="parTrans" cxnId="{6507C267-45D2-442B-9856-A6528B1ABC13}">
      <dgm:prSet/>
      <dgm:spPr/>
      <dgm:t>
        <a:bodyPr/>
        <a:lstStyle/>
        <a:p>
          <a:endParaRPr lang="en-US"/>
        </a:p>
      </dgm:t>
    </dgm:pt>
    <dgm:pt modelId="{D2FC006F-4878-425C-8534-9958A1C4C999}" type="sibTrans" cxnId="{186E46C4-AF39-4B41-8529-E82656AD920B}">
      <dgm:prSet/>
      <dgm:spPr/>
      <dgm:t>
        <a:bodyPr/>
        <a:lstStyle/>
        <a:p>
          <a:endParaRPr lang="en-US"/>
        </a:p>
      </dgm:t>
    </dgm:pt>
    <dgm:pt modelId="{358B1E52-52DB-4204-847C-0F7236E3DCA1}" type="parTrans" cxnId="{186E46C4-AF39-4B41-8529-E82656AD920B}">
      <dgm:prSet/>
      <dgm:spPr/>
      <dgm:t>
        <a:bodyPr/>
        <a:lstStyle/>
        <a:p>
          <a:endParaRPr lang="en-US"/>
        </a:p>
      </dgm:t>
    </dgm:pt>
    <dgm:pt modelId="{AD53B9BE-3EEF-40FF-A0F4-60763D2D3C8A}">
      <dgm:prSet phldrT="[Text]"/>
      <dgm:spPr/>
      <dgm:t>
        <a:bodyPr/>
        <a:lstStyle/>
        <a:p>
          <a:r>
            <a:rPr lang="en-US" dirty="0" smtClean="0"/>
            <a:t>Check extracted data for anomalies</a:t>
          </a:r>
          <a:endParaRPr lang="en-US" dirty="0"/>
        </a:p>
      </dgm:t>
    </dgm:pt>
    <dgm:pt modelId="{411EE943-232E-42A7-87A4-CBEF2C1F6D51}">
      <dgm:prSet phldrT="[Text]"/>
      <dgm:spPr/>
      <dgm:t>
        <a:bodyPr/>
        <a:lstStyle/>
        <a:p>
          <a:r>
            <a:rPr lang="en-US" dirty="0" smtClean="0"/>
            <a:t>Human Verification</a:t>
          </a:r>
          <a:endParaRPr lang="en-US" dirty="0"/>
        </a:p>
      </dgm:t>
    </dgm:pt>
    <dgm:pt modelId="{801562BB-EED3-42A3-B671-CDBC23B982B8}" type="sibTrans" cxnId="{7709554A-F5A8-4B0E-A01C-C78905FF005D}">
      <dgm:prSet/>
      <dgm:spPr/>
      <dgm:t>
        <a:bodyPr/>
        <a:lstStyle/>
        <a:p>
          <a:endParaRPr lang="en-US"/>
        </a:p>
      </dgm:t>
    </dgm:pt>
    <dgm:pt modelId="{D6046D76-B4F0-4F69-9A77-8E1E085D2AEF}" type="parTrans" cxnId="{7709554A-F5A8-4B0E-A01C-C78905FF005D}">
      <dgm:prSet/>
      <dgm:spPr/>
      <dgm:t>
        <a:bodyPr/>
        <a:lstStyle/>
        <a:p>
          <a:endParaRPr lang="en-US"/>
        </a:p>
      </dgm:t>
    </dgm:pt>
    <dgm:pt modelId="{28E4A3A8-71B6-4C85-8277-413E8E4D8FF9}" type="sibTrans" cxnId="{CAD1156E-E411-4ABF-8722-93D0E8D56335}">
      <dgm:prSet/>
      <dgm:spPr/>
      <dgm:t>
        <a:bodyPr/>
        <a:lstStyle/>
        <a:p>
          <a:endParaRPr lang="en-US"/>
        </a:p>
      </dgm:t>
    </dgm:pt>
    <dgm:pt modelId="{40A3E934-769E-40C4-97A4-62401CB79FED}" type="parTrans" cxnId="{CAD1156E-E411-4ABF-8722-93D0E8D56335}">
      <dgm:prSet/>
      <dgm:spPr/>
      <dgm:t>
        <a:bodyPr/>
        <a:lstStyle/>
        <a:p>
          <a:endParaRPr lang="en-US"/>
        </a:p>
      </dgm:t>
    </dgm:pt>
    <dgm:pt modelId="{8999594D-17A4-4CEC-B537-F8B19A059E10}">
      <dgm:prSet phldrT="[Text]"/>
      <dgm:spPr/>
      <dgm:t>
        <a:bodyPr/>
        <a:lstStyle/>
        <a:p>
          <a:r>
            <a:rPr lang="en-US" dirty="0" smtClean="0"/>
            <a:t>Extract -&gt; Parse -&gt; Transform -&gt; Populate Data in Excel -&gt; Save</a:t>
          </a:r>
          <a:endParaRPr lang="en-US" dirty="0"/>
        </a:p>
      </dgm:t>
    </dgm:pt>
    <dgm:pt modelId="{E2676B78-06E9-4913-86F3-C5522F6BFEB6}">
      <dgm:prSet phldrT="[Text]"/>
      <dgm:spPr/>
      <dgm:t>
        <a:bodyPr/>
        <a:lstStyle/>
        <a:p>
          <a:r>
            <a:rPr lang="en-US" dirty="0" smtClean="0"/>
            <a:t>Automation 1 – PDF -&gt; Excel</a:t>
          </a:r>
          <a:endParaRPr lang="en-US" dirty="0"/>
        </a:p>
      </dgm:t>
    </dgm:pt>
    <dgm:pt modelId="{77D1D2B5-34FD-4664-93EC-123B280EE554}" type="sibTrans" cxnId="{A0E67009-9041-48C3-9F73-2BD600A200AB}">
      <dgm:prSet/>
      <dgm:spPr/>
      <dgm:t>
        <a:bodyPr/>
        <a:lstStyle/>
        <a:p>
          <a:endParaRPr lang="en-US"/>
        </a:p>
      </dgm:t>
    </dgm:pt>
    <dgm:pt modelId="{EC623F86-CA93-4213-A265-3B40DC0E6912}" type="parTrans" cxnId="{A0E67009-9041-48C3-9F73-2BD600A200AB}">
      <dgm:prSet/>
      <dgm:spPr/>
      <dgm:t>
        <a:bodyPr/>
        <a:lstStyle/>
        <a:p>
          <a:endParaRPr lang="en-US"/>
        </a:p>
      </dgm:t>
    </dgm:pt>
    <dgm:pt modelId="{085B08E8-C8CA-416B-9FFB-5C8D27DDDE01}" type="sibTrans" cxnId="{D68486F0-4723-4142-BCFF-3B1E76C321E3}">
      <dgm:prSet/>
      <dgm:spPr/>
      <dgm:t>
        <a:bodyPr/>
        <a:lstStyle/>
        <a:p>
          <a:endParaRPr lang="en-US"/>
        </a:p>
      </dgm:t>
    </dgm:pt>
    <dgm:pt modelId="{CF9EFBFD-0769-433A-AFFD-79FEE4ADBBFF}" type="parTrans" cxnId="{D68486F0-4723-4142-BCFF-3B1E76C321E3}">
      <dgm:prSet/>
      <dgm:spPr/>
      <dgm:t>
        <a:bodyPr/>
        <a:lstStyle/>
        <a:p>
          <a:endParaRPr lang="en-US"/>
        </a:p>
      </dgm:t>
    </dgm:pt>
    <dgm:pt modelId="{EFEBD127-66AA-4780-B730-39AB253D6B7D}">
      <dgm:prSet phldrT="[Text]"/>
      <dgm:spPr/>
      <dgm:t>
        <a:bodyPr/>
        <a:lstStyle/>
        <a:p>
          <a:r>
            <a:rPr lang="en-US" dirty="0" smtClean="0"/>
            <a:t>PDF Customer Response</a:t>
          </a:r>
          <a:endParaRPr lang="en-US" dirty="0"/>
        </a:p>
      </dgm:t>
    </dgm:pt>
    <dgm:pt modelId="{5E0BB98B-9F11-4336-A345-EC2FBE37861F}" type="sibTrans" cxnId="{0D4E81C9-4895-437D-BA51-4DCAB1857DAA}">
      <dgm:prSet/>
      <dgm:spPr/>
      <dgm:t>
        <a:bodyPr/>
        <a:lstStyle/>
        <a:p>
          <a:endParaRPr lang="en-US"/>
        </a:p>
      </dgm:t>
    </dgm:pt>
    <dgm:pt modelId="{A0AA45CB-B336-428B-9E61-656B730635F5}" type="parTrans" cxnId="{0D4E81C9-4895-437D-BA51-4DCAB1857DAA}">
      <dgm:prSet/>
      <dgm:spPr/>
      <dgm:t>
        <a:bodyPr/>
        <a:lstStyle/>
        <a:p>
          <a:endParaRPr lang="en-US"/>
        </a:p>
      </dgm:t>
    </dgm:pt>
    <dgm:pt modelId="{33844309-1186-4D38-A2D3-D8D94BC0E3BF}" type="pres">
      <dgm:prSet presAssocID="{5AE9B361-6283-4668-A1BD-335E925BF382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9EA4F087-F3CF-4B09-BEAE-148583872458}" type="pres">
      <dgm:prSet presAssocID="{15DD8775-57AB-4FA7-920E-4E3362FF5956}" presName="boxAndChildren" presStyleCnt="0"/>
      <dgm:spPr/>
    </dgm:pt>
    <dgm:pt modelId="{2FF815A3-AAA5-4FBA-A6CE-745B88DF1D41}" type="pres">
      <dgm:prSet presAssocID="{15DD8775-57AB-4FA7-920E-4E3362FF5956}" presName="parentTextBox" presStyleLbl="node1" presStyleIdx="0" presStyleCnt="5"/>
      <dgm:spPr/>
      <dgm:t>
        <a:bodyPr/>
        <a:lstStyle/>
        <a:p>
          <a:endParaRPr lang="en-US"/>
        </a:p>
      </dgm:t>
    </dgm:pt>
    <dgm:pt modelId="{02FD30D0-E643-407D-9BE6-1D063FA5F0DF}" type="pres">
      <dgm:prSet presAssocID="{15DD8775-57AB-4FA7-920E-4E3362FF5956}" presName="entireBox" presStyleLbl="node1" presStyleIdx="0" presStyleCnt="5"/>
      <dgm:spPr/>
      <dgm:t>
        <a:bodyPr/>
        <a:lstStyle/>
        <a:p>
          <a:endParaRPr lang="en-US"/>
        </a:p>
      </dgm:t>
    </dgm:pt>
    <dgm:pt modelId="{5E731FCF-9D51-48EC-A89B-08709E843800}" type="pres">
      <dgm:prSet presAssocID="{15DD8775-57AB-4FA7-920E-4E3362FF5956}" presName="descendantBox" presStyleCnt="0"/>
      <dgm:spPr/>
    </dgm:pt>
    <dgm:pt modelId="{A408AFB1-6862-4ED0-B737-F9DC507E9896}" type="pres">
      <dgm:prSet presAssocID="{3545E527-8B7E-4BAA-B410-F6CF52FFD842}" presName="childTextBox" presStyleLbl="fgAccFollowNode1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A092D8B-D563-4323-B7EC-7DE9D80441C9}" type="pres">
      <dgm:prSet presAssocID="{801562BB-EED3-42A3-B671-CDBC23B982B8}" presName="sp" presStyleCnt="0"/>
      <dgm:spPr/>
    </dgm:pt>
    <dgm:pt modelId="{5716517D-BAC5-4078-BDA7-376449B157AA}" type="pres">
      <dgm:prSet presAssocID="{411EE943-232E-42A7-87A4-CBEF2C1F6D51}" presName="arrowAndChildren" presStyleCnt="0"/>
      <dgm:spPr/>
    </dgm:pt>
    <dgm:pt modelId="{6983F919-1D56-4ED7-A3A4-34A568AD9DEE}" type="pres">
      <dgm:prSet presAssocID="{411EE943-232E-42A7-87A4-CBEF2C1F6D51}" presName="parentTextArrow" presStyleLbl="node1" presStyleIdx="0" presStyleCnt="5"/>
      <dgm:spPr/>
      <dgm:t>
        <a:bodyPr/>
        <a:lstStyle/>
        <a:p>
          <a:endParaRPr lang="en-US"/>
        </a:p>
      </dgm:t>
    </dgm:pt>
    <dgm:pt modelId="{FD477E20-B479-4AD1-A1F9-7B6AC262E3E8}" type="pres">
      <dgm:prSet presAssocID="{411EE943-232E-42A7-87A4-CBEF2C1F6D51}" presName="arrow" presStyleLbl="node1" presStyleIdx="1" presStyleCnt="5"/>
      <dgm:spPr/>
      <dgm:t>
        <a:bodyPr/>
        <a:lstStyle/>
        <a:p>
          <a:endParaRPr lang="en-US"/>
        </a:p>
      </dgm:t>
    </dgm:pt>
    <dgm:pt modelId="{DCEEA638-3B69-4EA4-9E6D-8C5AAEF2D91C}" type="pres">
      <dgm:prSet presAssocID="{411EE943-232E-42A7-87A4-CBEF2C1F6D51}" presName="descendantArrow" presStyleCnt="0"/>
      <dgm:spPr/>
    </dgm:pt>
    <dgm:pt modelId="{AB101AAB-90F9-4F7D-B618-01646F8E4B9F}" type="pres">
      <dgm:prSet presAssocID="{AD53B9BE-3EEF-40FF-A0F4-60763D2D3C8A}" presName="childTextArrow" presStyleLbl="fgAccFollowNode1" presStyleIdx="1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383FAF1-E018-40B8-9BD6-D0648D674D42}" type="pres">
      <dgm:prSet presAssocID="{77D1D2B5-34FD-4664-93EC-123B280EE554}" presName="sp" presStyleCnt="0"/>
      <dgm:spPr/>
    </dgm:pt>
    <dgm:pt modelId="{1C79D4DA-CF36-4946-B384-9F304185F132}" type="pres">
      <dgm:prSet presAssocID="{E2676B78-06E9-4913-86F3-C5522F6BFEB6}" presName="arrowAndChildren" presStyleCnt="0"/>
      <dgm:spPr/>
    </dgm:pt>
    <dgm:pt modelId="{0CF59170-056C-411C-9281-0D3CD1A8BC65}" type="pres">
      <dgm:prSet presAssocID="{E2676B78-06E9-4913-86F3-C5522F6BFEB6}" presName="parentTextArrow" presStyleLbl="node1" presStyleIdx="1" presStyleCnt="5"/>
      <dgm:spPr/>
      <dgm:t>
        <a:bodyPr/>
        <a:lstStyle/>
        <a:p>
          <a:endParaRPr lang="en-US"/>
        </a:p>
      </dgm:t>
    </dgm:pt>
    <dgm:pt modelId="{8F25DF48-A734-46DF-8707-06EAA18569F0}" type="pres">
      <dgm:prSet presAssocID="{E2676B78-06E9-4913-86F3-C5522F6BFEB6}" presName="arrow" presStyleLbl="node1" presStyleIdx="2" presStyleCnt="5"/>
      <dgm:spPr/>
      <dgm:t>
        <a:bodyPr/>
        <a:lstStyle/>
        <a:p>
          <a:endParaRPr lang="en-US"/>
        </a:p>
      </dgm:t>
    </dgm:pt>
    <dgm:pt modelId="{939BA45B-C3E4-4EF9-9D39-8A3636CF2642}" type="pres">
      <dgm:prSet presAssocID="{E2676B78-06E9-4913-86F3-C5522F6BFEB6}" presName="descendantArrow" presStyleCnt="0"/>
      <dgm:spPr/>
    </dgm:pt>
    <dgm:pt modelId="{8018417B-DEC3-4E97-AF0C-8625937DE9B0}" type="pres">
      <dgm:prSet presAssocID="{8999594D-17A4-4CEC-B537-F8B19A059E10}" presName="childTextArrow" presStyleLbl="fgAccFollowNode1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EF4E3F0-38D3-4513-9DBC-C3573C2844BD}" type="pres">
      <dgm:prSet presAssocID="{5E0BB98B-9F11-4336-A345-EC2FBE37861F}" presName="sp" presStyleCnt="0"/>
      <dgm:spPr/>
    </dgm:pt>
    <dgm:pt modelId="{FFCA98C3-A207-49F8-9B16-3CB22E054837}" type="pres">
      <dgm:prSet presAssocID="{EFEBD127-66AA-4780-B730-39AB253D6B7D}" presName="arrowAndChildren" presStyleCnt="0"/>
      <dgm:spPr/>
    </dgm:pt>
    <dgm:pt modelId="{7774234D-8081-43DA-9B7B-38C7621D59C9}" type="pres">
      <dgm:prSet presAssocID="{EFEBD127-66AA-4780-B730-39AB253D6B7D}" presName="parentTextArrow" presStyleLbl="node1" presStyleIdx="3" presStyleCnt="5"/>
      <dgm:spPr/>
      <dgm:t>
        <a:bodyPr/>
        <a:lstStyle/>
        <a:p>
          <a:endParaRPr lang="en-US"/>
        </a:p>
      </dgm:t>
    </dgm:pt>
    <dgm:pt modelId="{E619C09A-B332-4AA5-A902-B0D890434E76}" type="pres">
      <dgm:prSet presAssocID="{FA230FD0-A66B-439C-8C15-FD6EE74DA2D3}" presName="sp" presStyleCnt="0"/>
      <dgm:spPr/>
    </dgm:pt>
    <dgm:pt modelId="{721B50C3-415E-4EFE-8D4C-6DC1093967DF}" type="pres">
      <dgm:prSet presAssocID="{FFA725FB-A94F-4873-B34D-ADD3DC9C4DAC}" presName="arrowAndChildren" presStyleCnt="0"/>
      <dgm:spPr/>
    </dgm:pt>
    <dgm:pt modelId="{41B08119-E47E-4E9B-A7F8-461F8EDEEAF0}" type="pres">
      <dgm:prSet presAssocID="{FFA725FB-A94F-4873-B34D-ADD3DC9C4DAC}" presName="parentTextArrow" presStyleLbl="node1" presStyleIdx="4" presStyleCnt="5"/>
      <dgm:spPr/>
      <dgm:t>
        <a:bodyPr/>
        <a:lstStyle/>
        <a:p>
          <a:endParaRPr lang="en-US"/>
        </a:p>
      </dgm:t>
    </dgm:pt>
  </dgm:ptLst>
  <dgm:cxnLst>
    <dgm:cxn modelId="{A39E3201-BC7E-4AE4-8EAF-C00E55D9D00A}" type="presOf" srcId="{15DD8775-57AB-4FA7-920E-4E3362FF5956}" destId="{02FD30D0-E643-407D-9BE6-1D063FA5F0DF}" srcOrd="1" destOrd="0" presId="urn:microsoft.com/office/officeart/2005/8/layout/process4"/>
    <dgm:cxn modelId="{97419731-8367-41F0-8B1E-316895D9C7AF}" type="presOf" srcId="{AD53B9BE-3EEF-40FF-A0F4-60763D2D3C8A}" destId="{AB101AAB-90F9-4F7D-B618-01646F8E4B9F}" srcOrd="0" destOrd="0" presId="urn:microsoft.com/office/officeart/2005/8/layout/process4"/>
    <dgm:cxn modelId="{186E46C4-AF39-4B41-8529-E82656AD920B}" srcId="{15DD8775-57AB-4FA7-920E-4E3362FF5956}" destId="{3545E527-8B7E-4BAA-B410-F6CF52FFD842}" srcOrd="0" destOrd="0" parTransId="{358B1E52-52DB-4204-847C-0F7236E3DCA1}" sibTransId="{D2FC006F-4878-425C-8534-9958A1C4C999}"/>
    <dgm:cxn modelId="{EBEE238D-08EB-4D66-8C90-9713297E368F}" type="presOf" srcId="{3545E527-8B7E-4BAA-B410-F6CF52FFD842}" destId="{A408AFB1-6862-4ED0-B737-F9DC507E9896}" srcOrd="0" destOrd="0" presId="urn:microsoft.com/office/officeart/2005/8/layout/process4"/>
    <dgm:cxn modelId="{0ADEA400-B112-4C1A-8BFB-D44900186D9E}" type="presOf" srcId="{E2676B78-06E9-4913-86F3-C5522F6BFEB6}" destId="{0CF59170-056C-411C-9281-0D3CD1A8BC65}" srcOrd="0" destOrd="0" presId="urn:microsoft.com/office/officeart/2005/8/layout/process4"/>
    <dgm:cxn modelId="{D602DBD7-4491-4129-81B5-6BDBCBD9F384}" type="presOf" srcId="{411EE943-232E-42A7-87A4-CBEF2C1F6D51}" destId="{6983F919-1D56-4ED7-A3A4-34A568AD9DEE}" srcOrd="0" destOrd="0" presId="urn:microsoft.com/office/officeart/2005/8/layout/process4"/>
    <dgm:cxn modelId="{6507C267-45D2-442B-9856-A6528B1ABC13}" srcId="{5AE9B361-6283-4668-A1BD-335E925BF382}" destId="{15DD8775-57AB-4FA7-920E-4E3362FF5956}" srcOrd="4" destOrd="0" parTransId="{09407518-2C7B-493E-BED6-CC08938BA9B3}" sibTransId="{6F27F2D4-0070-4D0A-B30D-1D7C4DA93F82}"/>
    <dgm:cxn modelId="{B4495556-6F38-49A3-920F-6E3A5814A22C}" type="presOf" srcId="{5AE9B361-6283-4668-A1BD-335E925BF382}" destId="{33844309-1186-4D38-A2D3-D8D94BC0E3BF}" srcOrd="0" destOrd="0" presId="urn:microsoft.com/office/officeart/2005/8/layout/process4"/>
    <dgm:cxn modelId="{BC8EA1C7-0C30-4105-A03D-156FD2BB89D2}" type="presOf" srcId="{15DD8775-57AB-4FA7-920E-4E3362FF5956}" destId="{2FF815A3-AAA5-4FBA-A6CE-745B88DF1D41}" srcOrd="0" destOrd="0" presId="urn:microsoft.com/office/officeart/2005/8/layout/process4"/>
    <dgm:cxn modelId="{9249A799-0C83-4E1B-99E6-C21D60367CD2}" type="presOf" srcId="{E2676B78-06E9-4913-86F3-C5522F6BFEB6}" destId="{8F25DF48-A734-46DF-8707-06EAA18569F0}" srcOrd="1" destOrd="0" presId="urn:microsoft.com/office/officeart/2005/8/layout/process4"/>
    <dgm:cxn modelId="{CAD1156E-E411-4ABF-8722-93D0E8D56335}" srcId="{411EE943-232E-42A7-87A4-CBEF2C1F6D51}" destId="{AD53B9BE-3EEF-40FF-A0F4-60763D2D3C8A}" srcOrd="0" destOrd="0" parTransId="{40A3E934-769E-40C4-97A4-62401CB79FED}" sibTransId="{28E4A3A8-71B6-4C85-8277-413E8E4D8FF9}"/>
    <dgm:cxn modelId="{7709554A-F5A8-4B0E-A01C-C78905FF005D}" srcId="{5AE9B361-6283-4668-A1BD-335E925BF382}" destId="{411EE943-232E-42A7-87A4-CBEF2C1F6D51}" srcOrd="3" destOrd="0" parTransId="{D6046D76-B4F0-4F69-9A77-8E1E085D2AEF}" sibTransId="{801562BB-EED3-42A3-B671-CDBC23B982B8}"/>
    <dgm:cxn modelId="{0D4E81C9-4895-437D-BA51-4DCAB1857DAA}" srcId="{5AE9B361-6283-4668-A1BD-335E925BF382}" destId="{EFEBD127-66AA-4780-B730-39AB253D6B7D}" srcOrd="1" destOrd="0" parTransId="{A0AA45CB-B336-428B-9E61-656B730635F5}" sibTransId="{5E0BB98B-9F11-4336-A345-EC2FBE37861F}"/>
    <dgm:cxn modelId="{F2C3AC13-E1F6-4B29-844F-21C7CEA781FB}" type="presOf" srcId="{411EE943-232E-42A7-87A4-CBEF2C1F6D51}" destId="{FD477E20-B479-4AD1-A1F9-7B6AC262E3E8}" srcOrd="1" destOrd="0" presId="urn:microsoft.com/office/officeart/2005/8/layout/process4"/>
    <dgm:cxn modelId="{80407B07-18D1-4A2F-9BD3-14D6ED762F48}" srcId="{5AE9B361-6283-4668-A1BD-335E925BF382}" destId="{FFA725FB-A94F-4873-B34D-ADD3DC9C4DAC}" srcOrd="0" destOrd="0" parTransId="{52AD00C5-E3CD-49B9-9946-40FDD295BFE8}" sibTransId="{FA230FD0-A66B-439C-8C15-FD6EE74DA2D3}"/>
    <dgm:cxn modelId="{A0E67009-9041-48C3-9F73-2BD600A200AB}" srcId="{5AE9B361-6283-4668-A1BD-335E925BF382}" destId="{E2676B78-06E9-4913-86F3-C5522F6BFEB6}" srcOrd="2" destOrd="0" parTransId="{EC623F86-CA93-4213-A265-3B40DC0E6912}" sibTransId="{77D1D2B5-34FD-4664-93EC-123B280EE554}"/>
    <dgm:cxn modelId="{02CE17AC-EE8F-4446-A4B9-50D503A05B0D}" type="presOf" srcId="{EFEBD127-66AA-4780-B730-39AB253D6B7D}" destId="{7774234D-8081-43DA-9B7B-38C7621D59C9}" srcOrd="0" destOrd="0" presId="urn:microsoft.com/office/officeart/2005/8/layout/process4"/>
    <dgm:cxn modelId="{C40B05BE-CD7D-49E4-9455-8A626B740CF9}" type="presOf" srcId="{FFA725FB-A94F-4873-B34D-ADD3DC9C4DAC}" destId="{41B08119-E47E-4E9B-A7F8-461F8EDEEAF0}" srcOrd="0" destOrd="0" presId="urn:microsoft.com/office/officeart/2005/8/layout/process4"/>
    <dgm:cxn modelId="{D68486F0-4723-4142-BCFF-3B1E76C321E3}" srcId="{E2676B78-06E9-4913-86F3-C5522F6BFEB6}" destId="{8999594D-17A4-4CEC-B537-F8B19A059E10}" srcOrd="0" destOrd="0" parTransId="{CF9EFBFD-0769-433A-AFFD-79FEE4ADBBFF}" sibTransId="{085B08E8-C8CA-416B-9FFB-5C8D27DDDE01}"/>
    <dgm:cxn modelId="{AB22EE1D-8D48-4059-BE82-C7395666A91E}" type="presOf" srcId="{8999594D-17A4-4CEC-B537-F8B19A059E10}" destId="{8018417B-DEC3-4E97-AF0C-8625937DE9B0}" srcOrd="0" destOrd="0" presId="urn:microsoft.com/office/officeart/2005/8/layout/process4"/>
    <dgm:cxn modelId="{BE60B9B6-8C61-4F5E-9AD2-209BEA9349D2}" type="presParOf" srcId="{33844309-1186-4D38-A2D3-D8D94BC0E3BF}" destId="{9EA4F087-F3CF-4B09-BEAE-148583872458}" srcOrd="0" destOrd="0" presId="urn:microsoft.com/office/officeart/2005/8/layout/process4"/>
    <dgm:cxn modelId="{2A3D1A71-91EA-4D16-807F-D72A9DB412ED}" type="presParOf" srcId="{9EA4F087-F3CF-4B09-BEAE-148583872458}" destId="{2FF815A3-AAA5-4FBA-A6CE-745B88DF1D41}" srcOrd="0" destOrd="0" presId="urn:microsoft.com/office/officeart/2005/8/layout/process4"/>
    <dgm:cxn modelId="{88B077D0-DD62-4BF7-A8C0-9A1B16F56AAB}" type="presParOf" srcId="{9EA4F087-F3CF-4B09-BEAE-148583872458}" destId="{02FD30D0-E643-407D-9BE6-1D063FA5F0DF}" srcOrd="1" destOrd="0" presId="urn:microsoft.com/office/officeart/2005/8/layout/process4"/>
    <dgm:cxn modelId="{CF16658A-3E51-44D6-9E40-208A70067960}" type="presParOf" srcId="{9EA4F087-F3CF-4B09-BEAE-148583872458}" destId="{5E731FCF-9D51-48EC-A89B-08709E843800}" srcOrd="2" destOrd="0" presId="urn:microsoft.com/office/officeart/2005/8/layout/process4"/>
    <dgm:cxn modelId="{EC632A84-E9A5-4416-8641-B3EE2DB2CC06}" type="presParOf" srcId="{5E731FCF-9D51-48EC-A89B-08709E843800}" destId="{A408AFB1-6862-4ED0-B737-F9DC507E9896}" srcOrd="0" destOrd="0" presId="urn:microsoft.com/office/officeart/2005/8/layout/process4"/>
    <dgm:cxn modelId="{573E2BDC-1594-41FE-8AED-62D41F616C79}" type="presParOf" srcId="{33844309-1186-4D38-A2D3-D8D94BC0E3BF}" destId="{8A092D8B-D563-4323-B7EC-7DE9D80441C9}" srcOrd="1" destOrd="0" presId="urn:microsoft.com/office/officeart/2005/8/layout/process4"/>
    <dgm:cxn modelId="{8822AE92-694D-4B66-9CF4-5E4EE25F0997}" type="presParOf" srcId="{33844309-1186-4D38-A2D3-D8D94BC0E3BF}" destId="{5716517D-BAC5-4078-BDA7-376449B157AA}" srcOrd="2" destOrd="0" presId="urn:microsoft.com/office/officeart/2005/8/layout/process4"/>
    <dgm:cxn modelId="{91E133D3-9CFC-4680-95AF-26BF076B7C70}" type="presParOf" srcId="{5716517D-BAC5-4078-BDA7-376449B157AA}" destId="{6983F919-1D56-4ED7-A3A4-34A568AD9DEE}" srcOrd="0" destOrd="0" presId="urn:microsoft.com/office/officeart/2005/8/layout/process4"/>
    <dgm:cxn modelId="{42B8F330-F869-4F55-AED9-817DC45C36EE}" type="presParOf" srcId="{5716517D-BAC5-4078-BDA7-376449B157AA}" destId="{FD477E20-B479-4AD1-A1F9-7B6AC262E3E8}" srcOrd="1" destOrd="0" presId="urn:microsoft.com/office/officeart/2005/8/layout/process4"/>
    <dgm:cxn modelId="{9ED82604-0EE3-4465-A22F-5E65A42802A7}" type="presParOf" srcId="{5716517D-BAC5-4078-BDA7-376449B157AA}" destId="{DCEEA638-3B69-4EA4-9E6D-8C5AAEF2D91C}" srcOrd="2" destOrd="0" presId="urn:microsoft.com/office/officeart/2005/8/layout/process4"/>
    <dgm:cxn modelId="{3436DFF2-436C-41F6-87F9-B55EAF43F891}" type="presParOf" srcId="{DCEEA638-3B69-4EA4-9E6D-8C5AAEF2D91C}" destId="{AB101AAB-90F9-4F7D-B618-01646F8E4B9F}" srcOrd="0" destOrd="0" presId="urn:microsoft.com/office/officeart/2005/8/layout/process4"/>
    <dgm:cxn modelId="{2E94138F-4F18-47DA-B491-621142DD2630}" type="presParOf" srcId="{33844309-1186-4D38-A2D3-D8D94BC0E3BF}" destId="{B383FAF1-E018-40B8-9BD6-D0648D674D42}" srcOrd="3" destOrd="0" presId="urn:microsoft.com/office/officeart/2005/8/layout/process4"/>
    <dgm:cxn modelId="{B1F5C240-91B5-4418-8941-23B7F92E6AA0}" type="presParOf" srcId="{33844309-1186-4D38-A2D3-D8D94BC0E3BF}" destId="{1C79D4DA-CF36-4946-B384-9F304185F132}" srcOrd="4" destOrd="0" presId="urn:microsoft.com/office/officeart/2005/8/layout/process4"/>
    <dgm:cxn modelId="{75F2A588-3F0A-405C-B3AF-3AC062003096}" type="presParOf" srcId="{1C79D4DA-CF36-4946-B384-9F304185F132}" destId="{0CF59170-056C-411C-9281-0D3CD1A8BC65}" srcOrd="0" destOrd="0" presId="urn:microsoft.com/office/officeart/2005/8/layout/process4"/>
    <dgm:cxn modelId="{ED01FF63-31B9-43C7-89DA-AEBCAD79AA2F}" type="presParOf" srcId="{1C79D4DA-CF36-4946-B384-9F304185F132}" destId="{8F25DF48-A734-46DF-8707-06EAA18569F0}" srcOrd="1" destOrd="0" presId="urn:microsoft.com/office/officeart/2005/8/layout/process4"/>
    <dgm:cxn modelId="{7AF696A4-463A-4521-BE29-8D7AA90C55C5}" type="presParOf" srcId="{1C79D4DA-CF36-4946-B384-9F304185F132}" destId="{939BA45B-C3E4-4EF9-9D39-8A3636CF2642}" srcOrd="2" destOrd="0" presId="urn:microsoft.com/office/officeart/2005/8/layout/process4"/>
    <dgm:cxn modelId="{45907B35-E5E3-4DEB-A388-D2A7F9C149A3}" type="presParOf" srcId="{939BA45B-C3E4-4EF9-9D39-8A3636CF2642}" destId="{8018417B-DEC3-4E97-AF0C-8625937DE9B0}" srcOrd="0" destOrd="0" presId="urn:microsoft.com/office/officeart/2005/8/layout/process4"/>
    <dgm:cxn modelId="{E17F9B5B-C5BC-4518-8B4A-C115C9A06FD2}" type="presParOf" srcId="{33844309-1186-4D38-A2D3-D8D94BC0E3BF}" destId="{CEF4E3F0-38D3-4513-9DBC-C3573C2844BD}" srcOrd="5" destOrd="0" presId="urn:microsoft.com/office/officeart/2005/8/layout/process4"/>
    <dgm:cxn modelId="{A6AB71C7-EE64-4781-9346-4F6F9CD13353}" type="presParOf" srcId="{33844309-1186-4D38-A2D3-D8D94BC0E3BF}" destId="{FFCA98C3-A207-49F8-9B16-3CB22E054837}" srcOrd="6" destOrd="0" presId="urn:microsoft.com/office/officeart/2005/8/layout/process4"/>
    <dgm:cxn modelId="{92D68EDE-4A08-42D5-A7CB-6AD2326C87C5}" type="presParOf" srcId="{FFCA98C3-A207-49F8-9B16-3CB22E054837}" destId="{7774234D-8081-43DA-9B7B-38C7621D59C9}" srcOrd="0" destOrd="0" presId="urn:microsoft.com/office/officeart/2005/8/layout/process4"/>
    <dgm:cxn modelId="{765C5FE8-1E73-43E8-B5F3-93313A3760CD}" type="presParOf" srcId="{33844309-1186-4D38-A2D3-D8D94BC0E3BF}" destId="{E619C09A-B332-4AA5-A902-B0D890434E76}" srcOrd="7" destOrd="0" presId="urn:microsoft.com/office/officeart/2005/8/layout/process4"/>
    <dgm:cxn modelId="{2EDC1283-869F-46F9-AE07-7ADAE23FD4AB}" type="presParOf" srcId="{33844309-1186-4D38-A2D3-D8D94BC0E3BF}" destId="{721B50C3-415E-4EFE-8D4C-6DC1093967DF}" srcOrd="8" destOrd="0" presId="urn:microsoft.com/office/officeart/2005/8/layout/process4"/>
    <dgm:cxn modelId="{20ABF928-613D-49B8-BB66-B4AD468E25AC}" type="presParOf" srcId="{721B50C3-415E-4EFE-8D4C-6DC1093967DF}" destId="{41B08119-E47E-4E9B-A7F8-461F8EDEEAF0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199A0D-631E-433C-8D9A-62096BDE4393}" type="datetimeFigureOut">
              <a:rPr lang="de-DE" smtClean="0"/>
              <a:t>11.09.2026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1F9015-3A23-4614-ADCC-162587A8393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0032674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A25870-6881-437C-8253-115FAB5C6C9A}" type="datetimeFigureOut">
              <a:rPr lang="de-DE" smtClean="0"/>
              <a:t>11.09.2026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0EB736-B50B-4F9F-9788-167D8314734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27058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0EB736-B50B-4F9F-9788-167D8314734B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88089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0EB736-B50B-4F9F-9788-167D8314734B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744853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D11B062-5355-9BDD-E092-2E67326BD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2AF5E727-E271-8319-6C7E-1668057073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090EBCE1-1B8A-8334-2564-08E854280E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DBA224F-864D-79E2-B1F4-A5146CF0F7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0EB736-B50B-4F9F-9788-167D8314734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72294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0EB736-B50B-4F9F-9788-167D8314734B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66857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0EB736-B50B-4F9F-9788-167D8314734B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179329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0EB736-B50B-4F9F-9788-167D8314734B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4573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0EB736-B50B-4F9F-9788-167D8314734B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133926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0EB736-B50B-4F9F-9788-167D8314734B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777608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0EB736-B50B-4F9F-9788-167D8314734B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61103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0EB736-B50B-4F9F-9788-167D8314734B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569977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3.png"/><Relationship Id="rId2" Type="http://schemas.openxmlformats.org/officeDocument/2006/relationships/tags" Target="../tags/tag4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2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.xml"/><Relationship Id="rId1" Type="http://schemas.openxmlformats.org/officeDocument/2006/relationships/vmlDrawing" Target="../drawings/vmlDrawing3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1" Type="http://schemas.openxmlformats.org/officeDocument/2006/relationships/vmlDrawing" Target="../drawings/vmlDrawing4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7.xml"/><Relationship Id="rId1" Type="http://schemas.openxmlformats.org/officeDocument/2006/relationships/vmlDrawing" Target="../drawings/vmlDrawing5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5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8.xml"/><Relationship Id="rId1" Type="http://schemas.openxmlformats.org/officeDocument/2006/relationships/vmlDrawing" Target="../drawings/vmlDrawing6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6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9.xml"/><Relationship Id="rId1" Type="http://schemas.openxmlformats.org/officeDocument/2006/relationships/vmlDrawing" Target="../drawings/vmlDrawing7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7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0.xml"/><Relationship Id="rId1" Type="http://schemas.openxmlformats.org/officeDocument/2006/relationships/vmlDrawing" Target="../drawings/vmlDrawing8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8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1" Type="http://schemas.openxmlformats.org/officeDocument/2006/relationships/vmlDrawing" Target="../drawings/vmlDrawing9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9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2.xml"/><Relationship Id="rId1" Type="http://schemas.openxmlformats.org/officeDocument/2006/relationships/vmlDrawing" Target="../drawings/vmlDrawing10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0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3.xml"/><Relationship Id="rId1" Type="http://schemas.openxmlformats.org/officeDocument/2006/relationships/vmlDrawing" Target="../drawings/vmlDrawing11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2795811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14" name="think-cell Folie" r:id="rId4" imgW="353" imgH="353" progId="TCLayout.ActiveDocument.1">
                  <p:embed/>
                </p:oleObj>
              </mc:Choice>
              <mc:Fallback>
                <p:oleObj name="think-cell Folie" r:id="rId4" imgW="353" imgH="353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Grafik 9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6461" y="230400"/>
            <a:ext cx="1725025" cy="359634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4526" y="6622963"/>
            <a:ext cx="1743312" cy="115814"/>
          </a:xfrm>
          <a:prstGeom prst="rect">
            <a:avLst/>
          </a:prstGeom>
        </p:spPr>
      </p:pic>
      <p:sp>
        <p:nvSpPr>
          <p:cNvPr id="6" name="Titel 1"/>
          <p:cNvSpPr>
            <a:spLocks noGrp="1"/>
          </p:cNvSpPr>
          <p:nvPr>
            <p:ph type="ctrTitle"/>
          </p:nvPr>
        </p:nvSpPr>
        <p:spPr bwMode="gray">
          <a:xfrm>
            <a:off x="916800" y="2286000"/>
            <a:ext cx="10363200" cy="1144800"/>
          </a:xfrm>
        </p:spPr>
        <p:txBody>
          <a:bodyPr vert="horz" anchor="ctr">
            <a:noAutofit/>
          </a:bodyPr>
          <a:lstStyle>
            <a:lvl1pPr algn="ctr">
              <a:defRPr sz="2000" b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noProof="0" dirty="0"/>
          </a:p>
        </p:txBody>
      </p:sp>
      <p:sp>
        <p:nvSpPr>
          <p:cNvPr id="7" name="Untertitel 2"/>
          <p:cNvSpPr>
            <a:spLocks noGrp="1"/>
          </p:cNvSpPr>
          <p:nvPr>
            <p:ph type="subTitle" idx="1"/>
          </p:nvPr>
        </p:nvSpPr>
        <p:spPr bwMode="gray">
          <a:xfrm>
            <a:off x="1833600" y="3430800"/>
            <a:ext cx="8534400" cy="1753200"/>
          </a:xfrm>
        </p:spPr>
        <p:txBody>
          <a:bodyPr lIns="0" tIns="72000" rIns="0" bIns="72000">
            <a:noAutofit/>
          </a:bodyPr>
          <a:lstStyle>
            <a:lvl1pPr marL="0" indent="0" algn="ctr">
              <a:buNone/>
              <a:defRPr sz="1600" b="1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300038" y="6558470"/>
            <a:ext cx="5355027" cy="244800"/>
          </a:xfrm>
          <a:prstGeom prst="rect">
            <a:avLst/>
          </a:prstGeom>
        </p:spPr>
        <p:txBody>
          <a:bodyPr lIns="0" rIns="0"/>
          <a:lstStyle>
            <a:lvl1pPr>
              <a:defRPr sz="900"/>
            </a:lvl1pPr>
          </a:lstStyle>
          <a:p>
            <a:r>
              <a:rPr lang="de-DE" sz="900" noProof="0">
                <a:solidFill>
                  <a:schemeClr val="tx2"/>
                </a:solidFill>
              </a:rPr>
              <a:t>Occasion / Author / </a:t>
            </a:r>
            <a:r>
              <a:rPr lang="nn-NO" sz="900" noProof="0">
                <a:solidFill>
                  <a:schemeClr val="tx2"/>
                </a:solidFill>
              </a:rPr>
              <a:t>KOMAK </a:t>
            </a:r>
            <a:r>
              <a:rPr lang="nn-NO" sz="900" noProof="0" dirty="0">
                <a:solidFill>
                  <a:schemeClr val="tx2"/>
                </a:solidFill>
              </a:rPr>
              <a:t>/ SAP-DocuLink implementation at KOMAK / Kristina K. / 29.08.2022</a:t>
            </a:r>
            <a:endParaRPr lang="de-DE" dirty="0">
              <a:solidFill>
                <a:srgbClr val="1E467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9823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7965080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38" name="think-cell Folie" r:id="rId4" imgW="353" imgH="353" progId="TCLayout.ActiveDocument.1">
                  <p:embed/>
                </p:oleObj>
              </mc:Choice>
              <mc:Fallback>
                <p:oleObj name="think-cell Folie" r:id="rId4" imgW="353" imgH="353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el 1"/>
          <p:cNvSpPr>
            <a:spLocks noGrp="1"/>
          </p:cNvSpPr>
          <p:nvPr>
            <p:ph type="title" hasCustomPrompt="1"/>
          </p:nvPr>
        </p:nvSpPr>
        <p:spPr bwMode="gray">
          <a:xfrm>
            <a:off x="964800" y="4406400"/>
            <a:ext cx="10363200" cy="1360800"/>
          </a:xfrm>
        </p:spPr>
        <p:txBody>
          <a:bodyPr vert="horz" lIns="360000" rIns="90000" bIns="0" anchor="t">
            <a:noAutofit/>
          </a:bodyPr>
          <a:lstStyle>
            <a:lvl1pPr>
              <a:defRPr sz="40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platzhalter 2"/>
          <p:cNvSpPr>
            <a:spLocks noGrp="1"/>
          </p:cNvSpPr>
          <p:nvPr>
            <p:ph type="body" idx="1" hasCustomPrompt="1"/>
          </p:nvPr>
        </p:nvSpPr>
        <p:spPr bwMode="gray">
          <a:xfrm>
            <a:off x="964800" y="2905200"/>
            <a:ext cx="10363200" cy="1501200"/>
          </a:xfrm>
        </p:spPr>
        <p:txBody>
          <a:bodyPr lIns="360000" tIns="360000" rIns="360000" bIns="360000" anchor="b">
            <a:noAutofit/>
          </a:bodyPr>
          <a:lstStyle>
            <a:lvl1pPr marL="0" indent="0">
              <a:buNone/>
              <a:defRPr sz="2000">
                <a:solidFill>
                  <a:schemeClr val="tx2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title style</a:t>
            </a:r>
            <a:endParaRPr lang="en-US" noProof="0" dirty="0"/>
          </a:p>
        </p:txBody>
      </p:sp>
      <p:sp>
        <p:nvSpPr>
          <p:cNvPr id="6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300038" y="6558470"/>
            <a:ext cx="5355027" cy="244800"/>
          </a:xfrm>
          <a:prstGeom prst="rect">
            <a:avLst/>
          </a:prstGeom>
        </p:spPr>
        <p:txBody>
          <a:bodyPr lIns="0" rIns="0"/>
          <a:lstStyle>
            <a:lvl1pPr>
              <a:defRPr sz="900"/>
            </a:lvl1pPr>
          </a:lstStyle>
          <a:p>
            <a:r>
              <a:rPr lang="de-DE" sz="900" noProof="0">
                <a:solidFill>
                  <a:schemeClr val="tx2"/>
                </a:solidFill>
              </a:rPr>
              <a:t>Occasion / Author / </a:t>
            </a:r>
            <a:r>
              <a:rPr lang="nn-NO" sz="900" noProof="0">
                <a:solidFill>
                  <a:schemeClr val="tx2"/>
                </a:solidFill>
              </a:rPr>
              <a:t>KOMAK </a:t>
            </a:r>
            <a:r>
              <a:rPr lang="nn-NO" sz="900" noProof="0" dirty="0">
                <a:solidFill>
                  <a:schemeClr val="tx2"/>
                </a:solidFill>
              </a:rPr>
              <a:t>/ SAP-DocuLink implementation at KOMAK / Kristina K. / 29.08.2022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8" name="Slide Number Placeholder 11"/>
          <p:cNvSpPr>
            <a:spLocks noGrp="1"/>
          </p:cNvSpPr>
          <p:nvPr>
            <p:ph type="sldNum" sz="quarter" idx="4"/>
          </p:nvPr>
        </p:nvSpPr>
        <p:spPr>
          <a:xfrm>
            <a:off x="5655065" y="6558471"/>
            <a:ext cx="881871" cy="244799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900">
                <a:solidFill>
                  <a:srgbClr val="1E467D"/>
                </a:solidFill>
              </a:defRPr>
            </a:lvl1pPr>
          </a:lstStyle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3488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1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000" y="480853"/>
            <a:ext cx="1743312" cy="102547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01625" y="3970428"/>
            <a:ext cx="5184775" cy="1323474"/>
          </a:xfrm>
        </p:spPr>
        <p:txBody>
          <a:bodyPr tIns="0" bIns="0" anchor="b"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title style</a:t>
            </a:r>
            <a:endParaRPr lang="de-DE" noProof="0" dirty="0"/>
          </a:p>
        </p:txBody>
      </p:sp>
      <p:pic>
        <p:nvPicPr>
          <p:cNvPr id="7" name="Grafik 10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6461" y="230400"/>
            <a:ext cx="1725025" cy="359634"/>
          </a:xfrm>
          <a:prstGeom prst="rect">
            <a:avLst/>
          </a:prstGeom>
        </p:spPr>
      </p:pic>
      <p:sp>
        <p:nvSpPr>
          <p:cNvPr id="5" name="Textplatzhalt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01625" y="5293902"/>
            <a:ext cx="5184775" cy="700237"/>
          </a:xfrm>
        </p:spPr>
        <p:txBody>
          <a:bodyPr tIns="0" bIns="0" anchor="b"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Click to edit Master subtitle style</a:t>
            </a:r>
            <a:endParaRPr lang="de-DE" dirty="0"/>
          </a:p>
        </p:txBody>
      </p:sp>
      <p:sp>
        <p:nvSpPr>
          <p:cNvPr id="9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300038" y="6558470"/>
            <a:ext cx="5355027" cy="244800"/>
          </a:xfrm>
          <a:prstGeom prst="rect">
            <a:avLst/>
          </a:prstGeom>
        </p:spPr>
        <p:txBody>
          <a:bodyPr lIns="0" rIns="0"/>
          <a:lstStyle>
            <a:lvl1pPr>
              <a:defRPr sz="900"/>
            </a:lvl1pPr>
          </a:lstStyle>
          <a:p>
            <a:r>
              <a:rPr lang="de-DE" sz="900" noProof="0">
                <a:solidFill>
                  <a:schemeClr val="tx2"/>
                </a:solidFill>
              </a:rPr>
              <a:t>Occasion / Author / </a:t>
            </a:r>
            <a:r>
              <a:rPr lang="nn-NO" sz="900" noProof="0">
                <a:solidFill>
                  <a:schemeClr val="tx2"/>
                </a:solidFill>
              </a:rPr>
              <a:t>KOMAK </a:t>
            </a:r>
            <a:r>
              <a:rPr lang="nn-NO" sz="900" noProof="0" dirty="0">
                <a:solidFill>
                  <a:schemeClr val="tx2"/>
                </a:solidFill>
              </a:rPr>
              <a:t>/ SAP-DocuLink implementation at KOMAK / Kristina K. / 29.08.2022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10" name="Slide Number Placeholder 11"/>
          <p:cNvSpPr>
            <a:spLocks noGrp="1"/>
          </p:cNvSpPr>
          <p:nvPr>
            <p:ph type="sldNum" sz="quarter" idx="4"/>
          </p:nvPr>
        </p:nvSpPr>
        <p:spPr>
          <a:xfrm>
            <a:off x="5655065" y="6558471"/>
            <a:ext cx="881871" cy="244799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900">
                <a:solidFill>
                  <a:srgbClr val="1E467D"/>
                </a:solidFill>
              </a:defRPr>
            </a:lvl1pPr>
          </a:lstStyle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505625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15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77655947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62" name="think-cell Folie" r:id="rId4" imgW="353" imgH="353" progId="TCLayout.ActiveDocument.1">
                  <p:embed/>
                </p:oleObj>
              </mc:Choice>
              <mc:Fallback>
                <p:oleObj name="think-cell Folie" r:id="rId4" imgW="353" imgH="353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elplatzhalter 1"/>
          <p:cNvSpPr>
            <a:spLocks noGrp="1"/>
          </p:cNvSpPr>
          <p:nvPr>
            <p:ph type="title"/>
          </p:nvPr>
        </p:nvSpPr>
        <p:spPr bwMode="gray">
          <a:xfrm>
            <a:off x="300038" y="113217"/>
            <a:ext cx="9540874" cy="594000"/>
          </a:xfrm>
          <a:prstGeom prst="rect">
            <a:avLst/>
          </a:prstGeom>
        </p:spPr>
        <p:txBody>
          <a:bodyPr vert="horz" lIns="0" tIns="72000" rIns="0" bIns="72000" rtlCol="0" anchor="b">
            <a:noAutofit/>
          </a:bodyPr>
          <a:lstStyle/>
          <a:p>
            <a:r>
              <a:rPr lang="en-US"/>
              <a:t>Click to edit Master title style</a:t>
            </a:r>
            <a:endParaRPr lang="de-DE" noProof="0" dirty="0"/>
          </a:p>
        </p:txBody>
      </p:sp>
      <p:sp>
        <p:nvSpPr>
          <p:cNvPr id="7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300038" y="6558470"/>
            <a:ext cx="5355027" cy="244800"/>
          </a:xfrm>
          <a:prstGeom prst="rect">
            <a:avLst/>
          </a:prstGeom>
        </p:spPr>
        <p:txBody>
          <a:bodyPr lIns="0" rIns="0"/>
          <a:lstStyle>
            <a:lvl1pPr>
              <a:defRPr sz="900"/>
            </a:lvl1pPr>
          </a:lstStyle>
          <a:p>
            <a:r>
              <a:rPr lang="de-DE" sz="900" noProof="0">
                <a:solidFill>
                  <a:schemeClr val="tx2"/>
                </a:solidFill>
              </a:rPr>
              <a:t>Occasion / Author / </a:t>
            </a:r>
            <a:r>
              <a:rPr lang="nn-NO" sz="900" noProof="0">
                <a:solidFill>
                  <a:schemeClr val="tx2"/>
                </a:solidFill>
              </a:rPr>
              <a:t>KOMAK </a:t>
            </a:r>
            <a:r>
              <a:rPr lang="nn-NO" sz="900" noProof="0" dirty="0">
                <a:solidFill>
                  <a:schemeClr val="tx2"/>
                </a:solidFill>
              </a:rPr>
              <a:t>/ SAP-DocuLink implementation at KOMAK / Kristina K. / 29.08.2022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8" name="Slide Number Placeholder 11"/>
          <p:cNvSpPr>
            <a:spLocks noGrp="1"/>
          </p:cNvSpPr>
          <p:nvPr>
            <p:ph type="sldNum" sz="quarter" idx="4"/>
          </p:nvPr>
        </p:nvSpPr>
        <p:spPr>
          <a:xfrm>
            <a:off x="5655065" y="6558471"/>
            <a:ext cx="881871" cy="244799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900">
                <a:solidFill>
                  <a:srgbClr val="1E467D"/>
                </a:solidFill>
              </a:defRPr>
            </a:lvl1pPr>
          </a:lstStyle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643338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2818908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86" name="think-cell Folie" r:id="rId4" imgW="353" imgH="353" progId="TCLayout.ActiveDocument.1">
                  <p:embed/>
                </p:oleObj>
              </mc:Choice>
              <mc:Fallback>
                <p:oleObj name="think-cell Folie" r:id="rId4" imgW="353" imgH="353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Inhaltsplatzhalter 3"/>
          <p:cNvSpPr>
            <a:spLocks noGrp="1"/>
          </p:cNvSpPr>
          <p:nvPr>
            <p:ph sz="quarter" idx="10"/>
          </p:nvPr>
        </p:nvSpPr>
        <p:spPr bwMode="gray">
          <a:xfrm>
            <a:off x="300038" y="1563625"/>
            <a:ext cx="11483974" cy="4961002"/>
          </a:xfrm>
        </p:spPr>
        <p:txBody>
          <a:bodyPr tIns="360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300038" y="883567"/>
            <a:ext cx="11483974" cy="540000"/>
          </a:xfrm>
          <a:solidFill>
            <a:schemeClr val="accent1"/>
          </a:solidFill>
        </p:spPr>
        <p:txBody>
          <a:bodyPr lIns="72000" tIns="72000" rIns="72000" bIns="72000" anchor="ctr"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itelplatzhalter 1"/>
          <p:cNvSpPr>
            <a:spLocks noGrp="1"/>
          </p:cNvSpPr>
          <p:nvPr>
            <p:ph type="title"/>
          </p:nvPr>
        </p:nvSpPr>
        <p:spPr bwMode="gray">
          <a:xfrm>
            <a:off x="300038" y="113217"/>
            <a:ext cx="9540874" cy="594000"/>
          </a:xfrm>
          <a:prstGeom prst="rect">
            <a:avLst/>
          </a:prstGeom>
        </p:spPr>
        <p:txBody>
          <a:bodyPr vert="horz" lIns="0" tIns="72000" rIns="0" bIns="72000" rtlCol="0" anchor="b">
            <a:noAutofit/>
          </a:bodyPr>
          <a:lstStyle/>
          <a:p>
            <a:r>
              <a:rPr lang="en-US"/>
              <a:t>Click to edit Master title style</a:t>
            </a:r>
            <a:endParaRPr lang="de-DE" noProof="0" dirty="0"/>
          </a:p>
        </p:txBody>
      </p:sp>
      <p:sp>
        <p:nvSpPr>
          <p:cNvPr id="10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300038" y="6558470"/>
            <a:ext cx="5355027" cy="244800"/>
          </a:xfrm>
          <a:prstGeom prst="rect">
            <a:avLst/>
          </a:prstGeom>
        </p:spPr>
        <p:txBody>
          <a:bodyPr lIns="0" rIns="0"/>
          <a:lstStyle>
            <a:lvl1pPr>
              <a:defRPr sz="900"/>
            </a:lvl1pPr>
          </a:lstStyle>
          <a:p>
            <a:r>
              <a:rPr lang="de-DE" sz="900" noProof="0">
                <a:solidFill>
                  <a:schemeClr val="tx2"/>
                </a:solidFill>
              </a:rPr>
              <a:t>Occasion / Author / </a:t>
            </a:r>
            <a:r>
              <a:rPr lang="nn-NO" sz="900" noProof="0">
                <a:solidFill>
                  <a:schemeClr val="tx2"/>
                </a:solidFill>
              </a:rPr>
              <a:t>KOMAK </a:t>
            </a:r>
            <a:r>
              <a:rPr lang="nn-NO" sz="900" noProof="0" dirty="0">
                <a:solidFill>
                  <a:schemeClr val="tx2"/>
                </a:solidFill>
              </a:rPr>
              <a:t>/ SAP-DocuLink implementation at KOMAK / Kristina K. / 29.08.2022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11" name="Slide Number Placeholder 11"/>
          <p:cNvSpPr>
            <a:spLocks noGrp="1"/>
          </p:cNvSpPr>
          <p:nvPr>
            <p:ph type="sldNum" sz="quarter" idx="4"/>
          </p:nvPr>
        </p:nvSpPr>
        <p:spPr>
          <a:xfrm>
            <a:off x="5655065" y="6558471"/>
            <a:ext cx="881871" cy="244799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900">
                <a:solidFill>
                  <a:srgbClr val="1E467D"/>
                </a:solidFill>
              </a:defRPr>
            </a:lvl1pPr>
          </a:lstStyle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929986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06034179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10" name="think-cell Folie" r:id="rId4" imgW="353" imgH="353" progId="TCLayout.ActiveDocument.1">
                  <p:embed/>
                </p:oleObj>
              </mc:Choice>
              <mc:Fallback>
                <p:oleObj name="think-cell Folie" r:id="rId4" imgW="353" imgH="353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Inhaltsplatzhalter 3"/>
          <p:cNvSpPr>
            <a:spLocks noGrp="1"/>
          </p:cNvSpPr>
          <p:nvPr>
            <p:ph sz="quarter" idx="10"/>
          </p:nvPr>
        </p:nvSpPr>
        <p:spPr bwMode="gray">
          <a:xfrm>
            <a:off x="300037" y="835199"/>
            <a:ext cx="11483975" cy="56894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5" name="Titelplatzhalter 1"/>
          <p:cNvSpPr>
            <a:spLocks noGrp="1"/>
          </p:cNvSpPr>
          <p:nvPr>
            <p:ph type="title"/>
          </p:nvPr>
        </p:nvSpPr>
        <p:spPr bwMode="gray">
          <a:xfrm>
            <a:off x="300038" y="113217"/>
            <a:ext cx="9540874" cy="594000"/>
          </a:xfrm>
          <a:prstGeom prst="rect">
            <a:avLst/>
          </a:prstGeom>
        </p:spPr>
        <p:txBody>
          <a:bodyPr vert="horz" lIns="0" tIns="72000" rIns="0" bIns="72000" rtlCol="0" anchor="b">
            <a:noAutofit/>
          </a:bodyPr>
          <a:lstStyle/>
          <a:p>
            <a:r>
              <a:rPr lang="en-US"/>
              <a:t>Click to edit Master title style</a:t>
            </a:r>
            <a:endParaRPr lang="de-DE" noProof="0" dirty="0"/>
          </a:p>
        </p:txBody>
      </p:sp>
      <p:sp>
        <p:nvSpPr>
          <p:cNvPr id="9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300038" y="6558470"/>
            <a:ext cx="5355027" cy="244800"/>
          </a:xfrm>
          <a:prstGeom prst="rect">
            <a:avLst/>
          </a:prstGeom>
        </p:spPr>
        <p:txBody>
          <a:bodyPr lIns="0" rIns="0"/>
          <a:lstStyle>
            <a:lvl1pPr>
              <a:defRPr sz="900"/>
            </a:lvl1pPr>
          </a:lstStyle>
          <a:p>
            <a:r>
              <a:rPr lang="de-DE" sz="900" noProof="0">
                <a:solidFill>
                  <a:schemeClr val="tx2"/>
                </a:solidFill>
              </a:rPr>
              <a:t>Occasion / Author / </a:t>
            </a:r>
            <a:r>
              <a:rPr lang="nn-NO" sz="900" noProof="0">
                <a:solidFill>
                  <a:schemeClr val="tx2"/>
                </a:solidFill>
              </a:rPr>
              <a:t>KOMAK </a:t>
            </a:r>
            <a:r>
              <a:rPr lang="nn-NO" sz="900" noProof="0" dirty="0">
                <a:solidFill>
                  <a:schemeClr val="tx2"/>
                </a:solidFill>
              </a:rPr>
              <a:t>/ SAP-DocuLink implementation at KOMAK / Kristina K. / 29.08.2022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10" name="Slide Number Placeholder 11"/>
          <p:cNvSpPr>
            <a:spLocks noGrp="1"/>
          </p:cNvSpPr>
          <p:nvPr>
            <p:ph type="sldNum" sz="quarter" idx="4"/>
          </p:nvPr>
        </p:nvSpPr>
        <p:spPr>
          <a:xfrm>
            <a:off x="5655065" y="6558471"/>
            <a:ext cx="881871" cy="244799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900">
                <a:solidFill>
                  <a:srgbClr val="1E467D"/>
                </a:solidFill>
              </a:defRPr>
            </a:lvl1pPr>
          </a:lstStyle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04926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95852586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34" name="think-cell Folie" r:id="rId4" imgW="353" imgH="353" progId="TCLayout.ActiveDocument.1">
                  <p:embed/>
                </p:oleObj>
              </mc:Choice>
              <mc:Fallback>
                <p:oleObj name="think-cell Folie" r:id="rId4" imgW="353" imgH="353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Inhaltsplatzhalter 3"/>
          <p:cNvSpPr>
            <a:spLocks noGrp="1"/>
          </p:cNvSpPr>
          <p:nvPr>
            <p:ph sz="quarter" idx="10"/>
          </p:nvPr>
        </p:nvSpPr>
        <p:spPr bwMode="gray">
          <a:xfrm>
            <a:off x="300039" y="835199"/>
            <a:ext cx="5604438" cy="56894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 bwMode="gray">
          <a:xfrm>
            <a:off x="6178812" y="835199"/>
            <a:ext cx="5605200" cy="56894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5" name="Titelplatzhalter 1"/>
          <p:cNvSpPr>
            <a:spLocks noGrp="1"/>
          </p:cNvSpPr>
          <p:nvPr>
            <p:ph type="title"/>
          </p:nvPr>
        </p:nvSpPr>
        <p:spPr bwMode="gray">
          <a:xfrm>
            <a:off x="300038" y="113217"/>
            <a:ext cx="9540874" cy="594000"/>
          </a:xfrm>
          <a:prstGeom prst="rect">
            <a:avLst/>
          </a:prstGeom>
        </p:spPr>
        <p:txBody>
          <a:bodyPr vert="horz" lIns="0" tIns="72000" rIns="0" bIns="72000" rtlCol="0" anchor="b">
            <a:noAutofit/>
          </a:bodyPr>
          <a:lstStyle/>
          <a:p>
            <a:r>
              <a:rPr lang="en-US"/>
              <a:t>Click to edit Master title style</a:t>
            </a:r>
            <a:endParaRPr lang="de-DE" noProof="0" dirty="0"/>
          </a:p>
        </p:txBody>
      </p:sp>
      <p:sp>
        <p:nvSpPr>
          <p:cNvPr id="10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300038" y="6558470"/>
            <a:ext cx="5355027" cy="244800"/>
          </a:xfrm>
          <a:prstGeom prst="rect">
            <a:avLst/>
          </a:prstGeom>
        </p:spPr>
        <p:txBody>
          <a:bodyPr lIns="0" rIns="0"/>
          <a:lstStyle>
            <a:lvl1pPr>
              <a:defRPr sz="900"/>
            </a:lvl1pPr>
          </a:lstStyle>
          <a:p>
            <a:r>
              <a:rPr lang="de-DE" sz="900" noProof="0">
                <a:solidFill>
                  <a:schemeClr val="tx2"/>
                </a:solidFill>
              </a:rPr>
              <a:t>Occasion / Author / </a:t>
            </a:r>
            <a:r>
              <a:rPr lang="nn-NO" sz="900" noProof="0">
                <a:solidFill>
                  <a:schemeClr val="tx2"/>
                </a:solidFill>
              </a:rPr>
              <a:t>KOMAK </a:t>
            </a:r>
            <a:r>
              <a:rPr lang="nn-NO" sz="900" noProof="0" dirty="0">
                <a:solidFill>
                  <a:schemeClr val="tx2"/>
                </a:solidFill>
              </a:rPr>
              <a:t>/ SAP-DocuLink implementation at KOMAK / Kristina K. / 29.08.2022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11" name="Slide Number Placeholder 11"/>
          <p:cNvSpPr>
            <a:spLocks noGrp="1"/>
          </p:cNvSpPr>
          <p:nvPr>
            <p:ph type="sldNum" sz="quarter" idx="4"/>
          </p:nvPr>
        </p:nvSpPr>
        <p:spPr>
          <a:xfrm>
            <a:off x="5655065" y="6558471"/>
            <a:ext cx="881871" cy="244799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900">
                <a:solidFill>
                  <a:srgbClr val="1E467D"/>
                </a:solidFill>
              </a:defRPr>
            </a:lvl1pPr>
          </a:lstStyle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218967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with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10723156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58" name="think-cell Folie" r:id="rId4" imgW="353" imgH="353" progId="TCLayout.ActiveDocument.1">
                  <p:embed/>
                </p:oleObj>
              </mc:Choice>
              <mc:Fallback>
                <p:oleObj name="think-cell Folie" r:id="rId4" imgW="353" imgH="353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Inhaltsplatzhalter 3"/>
          <p:cNvSpPr>
            <a:spLocks noGrp="1"/>
          </p:cNvSpPr>
          <p:nvPr>
            <p:ph sz="quarter" idx="10"/>
          </p:nvPr>
        </p:nvSpPr>
        <p:spPr bwMode="gray">
          <a:xfrm>
            <a:off x="300038" y="1375200"/>
            <a:ext cx="5603963" cy="5149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 bwMode="gray">
          <a:xfrm>
            <a:off x="6178812" y="1375200"/>
            <a:ext cx="5605200" cy="5149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2"/>
          </p:nvPr>
        </p:nvSpPr>
        <p:spPr bwMode="gray">
          <a:xfrm>
            <a:off x="300038" y="835199"/>
            <a:ext cx="5603963" cy="540001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3000"/>
              </a:lnSpc>
              <a:spcBef>
                <a:spcPts val="40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tabLst/>
              <a:defRPr sz="18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platzhalter 10"/>
          <p:cNvSpPr>
            <a:spLocks noGrp="1"/>
          </p:cNvSpPr>
          <p:nvPr>
            <p:ph type="body" sz="quarter" idx="13"/>
          </p:nvPr>
        </p:nvSpPr>
        <p:spPr bwMode="gray">
          <a:xfrm>
            <a:off x="6179113" y="835199"/>
            <a:ext cx="5604899" cy="540001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3000"/>
              </a:lnSpc>
              <a:spcBef>
                <a:spcPts val="40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tabLst/>
              <a:defRPr sz="18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elplatzhalter 1"/>
          <p:cNvSpPr>
            <a:spLocks noGrp="1"/>
          </p:cNvSpPr>
          <p:nvPr>
            <p:ph type="title"/>
          </p:nvPr>
        </p:nvSpPr>
        <p:spPr bwMode="gray">
          <a:xfrm>
            <a:off x="300038" y="113217"/>
            <a:ext cx="9540874" cy="594000"/>
          </a:xfrm>
          <a:prstGeom prst="rect">
            <a:avLst/>
          </a:prstGeom>
        </p:spPr>
        <p:txBody>
          <a:bodyPr vert="horz" lIns="0" tIns="72000" rIns="0" bIns="72000" rtlCol="0" anchor="b">
            <a:noAutofit/>
          </a:bodyPr>
          <a:lstStyle/>
          <a:p>
            <a:r>
              <a:rPr lang="en-US"/>
              <a:t>Click to edit Master title style</a:t>
            </a:r>
            <a:endParaRPr lang="de-DE" noProof="0" dirty="0"/>
          </a:p>
        </p:txBody>
      </p:sp>
      <p:sp>
        <p:nvSpPr>
          <p:cNvPr id="10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300038" y="6558470"/>
            <a:ext cx="5355027" cy="244800"/>
          </a:xfrm>
          <a:prstGeom prst="rect">
            <a:avLst/>
          </a:prstGeom>
        </p:spPr>
        <p:txBody>
          <a:bodyPr lIns="0" rIns="0"/>
          <a:lstStyle>
            <a:lvl1pPr>
              <a:defRPr sz="900"/>
            </a:lvl1pPr>
          </a:lstStyle>
          <a:p>
            <a:r>
              <a:rPr lang="de-DE" sz="900" noProof="0">
                <a:solidFill>
                  <a:schemeClr val="tx2"/>
                </a:solidFill>
              </a:rPr>
              <a:t>Occasion / Author / </a:t>
            </a:r>
            <a:r>
              <a:rPr lang="nn-NO" sz="900" noProof="0">
                <a:solidFill>
                  <a:schemeClr val="tx2"/>
                </a:solidFill>
              </a:rPr>
              <a:t>KOMAK </a:t>
            </a:r>
            <a:r>
              <a:rPr lang="nn-NO" sz="900" noProof="0" dirty="0">
                <a:solidFill>
                  <a:schemeClr val="tx2"/>
                </a:solidFill>
              </a:rPr>
              <a:t>/ SAP-DocuLink implementation at KOMAK / Kristina K. / 29.08.2022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13" name="Slide Number Placeholder 11"/>
          <p:cNvSpPr>
            <a:spLocks noGrp="1"/>
          </p:cNvSpPr>
          <p:nvPr>
            <p:ph type="sldNum" sz="quarter" idx="4"/>
          </p:nvPr>
        </p:nvSpPr>
        <p:spPr>
          <a:xfrm>
            <a:off x="5655065" y="6558471"/>
            <a:ext cx="881871" cy="244799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900">
                <a:solidFill>
                  <a:srgbClr val="1E467D"/>
                </a:solidFill>
              </a:defRPr>
            </a:lvl1pPr>
          </a:lstStyle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776428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628175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82" name="think-cell Folie" r:id="rId4" imgW="353" imgH="353" progId="TCLayout.ActiveDocument.1">
                  <p:embed/>
                </p:oleObj>
              </mc:Choice>
              <mc:Fallback>
                <p:oleObj name="think-cell Folie" r:id="rId4" imgW="353" imgH="353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300038" y="6558470"/>
            <a:ext cx="5355027" cy="244800"/>
          </a:xfrm>
          <a:prstGeom prst="rect">
            <a:avLst/>
          </a:prstGeom>
        </p:spPr>
        <p:txBody>
          <a:bodyPr lIns="0" rIns="0"/>
          <a:lstStyle>
            <a:lvl1pPr>
              <a:defRPr sz="900"/>
            </a:lvl1pPr>
          </a:lstStyle>
          <a:p>
            <a:r>
              <a:rPr lang="de-DE" sz="900" noProof="0">
                <a:solidFill>
                  <a:schemeClr val="tx2"/>
                </a:solidFill>
              </a:rPr>
              <a:t>Occasion / Author / </a:t>
            </a:r>
            <a:r>
              <a:rPr lang="nn-NO" sz="900" noProof="0">
                <a:solidFill>
                  <a:schemeClr val="tx2"/>
                </a:solidFill>
              </a:rPr>
              <a:t>KOMAK </a:t>
            </a:r>
            <a:r>
              <a:rPr lang="nn-NO" sz="900" noProof="0" dirty="0">
                <a:solidFill>
                  <a:schemeClr val="tx2"/>
                </a:solidFill>
              </a:rPr>
              <a:t>/ SAP-DocuLink implementation at KOMAK / Kristina K. / 29.08.2022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7" name="Slide Number Placeholder 11"/>
          <p:cNvSpPr>
            <a:spLocks noGrp="1"/>
          </p:cNvSpPr>
          <p:nvPr>
            <p:ph type="sldNum" sz="quarter" idx="4"/>
          </p:nvPr>
        </p:nvSpPr>
        <p:spPr>
          <a:xfrm>
            <a:off x="5655065" y="6558471"/>
            <a:ext cx="881871" cy="244799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900">
                <a:solidFill>
                  <a:srgbClr val="1E467D"/>
                </a:solidFill>
              </a:defRPr>
            </a:lvl1pPr>
          </a:lstStyle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48218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1734852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06" name="think-cell Folie" r:id="rId4" imgW="353" imgH="353" progId="TCLayout.ActiveDocument.1">
                  <p:embed/>
                </p:oleObj>
              </mc:Choice>
              <mc:Fallback>
                <p:oleObj name="think-cell Folie" r:id="rId4" imgW="353" imgH="353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 bwMode="gray">
          <a:xfrm>
            <a:off x="300038" y="835199"/>
            <a:ext cx="4451762" cy="56894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7" name="Inhaltsplatzhalter 6"/>
          <p:cNvSpPr>
            <a:spLocks noGrp="1"/>
          </p:cNvSpPr>
          <p:nvPr>
            <p:ph sz="quarter" idx="11"/>
          </p:nvPr>
        </p:nvSpPr>
        <p:spPr bwMode="gray">
          <a:xfrm>
            <a:off x="5039802" y="835199"/>
            <a:ext cx="6744210" cy="56894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8" name="Titelplatzhalter 1"/>
          <p:cNvSpPr>
            <a:spLocks noGrp="1"/>
          </p:cNvSpPr>
          <p:nvPr>
            <p:ph type="title"/>
          </p:nvPr>
        </p:nvSpPr>
        <p:spPr bwMode="gray">
          <a:xfrm>
            <a:off x="300038" y="113217"/>
            <a:ext cx="9540874" cy="594000"/>
          </a:xfrm>
          <a:prstGeom prst="rect">
            <a:avLst/>
          </a:prstGeom>
        </p:spPr>
        <p:txBody>
          <a:bodyPr vert="horz" lIns="0" tIns="72000" rIns="0" bIns="72000" rtlCol="0" anchor="b">
            <a:noAutofit/>
          </a:bodyPr>
          <a:lstStyle/>
          <a:p>
            <a:r>
              <a:rPr lang="en-US"/>
              <a:t>Click to edit Master title style</a:t>
            </a:r>
            <a:endParaRPr lang="de-DE" noProof="0" dirty="0"/>
          </a:p>
        </p:txBody>
      </p:sp>
      <p:sp>
        <p:nvSpPr>
          <p:cNvPr id="11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300038" y="6558470"/>
            <a:ext cx="5355027" cy="244800"/>
          </a:xfrm>
          <a:prstGeom prst="rect">
            <a:avLst/>
          </a:prstGeom>
        </p:spPr>
        <p:txBody>
          <a:bodyPr lIns="0" rIns="0"/>
          <a:lstStyle>
            <a:lvl1pPr>
              <a:defRPr sz="900"/>
            </a:lvl1pPr>
          </a:lstStyle>
          <a:p>
            <a:r>
              <a:rPr lang="de-DE" sz="900" noProof="0">
                <a:solidFill>
                  <a:schemeClr val="tx2"/>
                </a:solidFill>
              </a:rPr>
              <a:t>Occasion / Author / </a:t>
            </a:r>
            <a:r>
              <a:rPr lang="nn-NO" sz="900" noProof="0">
                <a:solidFill>
                  <a:schemeClr val="tx2"/>
                </a:solidFill>
              </a:rPr>
              <a:t>KOMAK </a:t>
            </a:r>
            <a:r>
              <a:rPr lang="nn-NO" sz="900" noProof="0" dirty="0">
                <a:solidFill>
                  <a:schemeClr val="tx2"/>
                </a:solidFill>
              </a:rPr>
              <a:t>/ SAP-DocuLink implementation at KOMAK / Kristina K. / 29.08.2022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>
          <a:xfrm>
            <a:off x="5655065" y="6558471"/>
            <a:ext cx="881871" cy="244799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900">
                <a:solidFill>
                  <a:srgbClr val="1E467D"/>
                </a:solidFill>
              </a:defRPr>
            </a:lvl1pPr>
          </a:lstStyle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64862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9296785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30" name="think-cell Folie" r:id="rId4" imgW="353" imgH="353" progId="TCLayout.ActiveDocument.1">
                  <p:embed/>
                </p:oleObj>
              </mc:Choice>
              <mc:Fallback>
                <p:oleObj name="think-cell Folie" r:id="rId4" imgW="353" imgH="353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>
          <a:xfrm>
            <a:off x="2390641" y="5502325"/>
            <a:ext cx="7315200" cy="806400"/>
          </a:xfrm>
        </p:spPr>
        <p:txBody>
          <a:bodyPr vert="horz"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Bildplatzhalter 3"/>
          <p:cNvSpPr>
            <a:spLocks noGrp="1"/>
          </p:cNvSpPr>
          <p:nvPr>
            <p:ph type="pic" sz="quarter" idx="10"/>
          </p:nvPr>
        </p:nvSpPr>
        <p:spPr bwMode="gray">
          <a:xfrm>
            <a:off x="2390641" y="835199"/>
            <a:ext cx="7315200" cy="3960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1"/>
          </p:nvPr>
        </p:nvSpPr>
        <p:spPr bwMode="gray">
          <a:xfrm>
            <a:off x="2390641" y="4802400"/>
            <a:ext cx="7315200" cy="5652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elplatzhalter 1"/>
          <p:cNvSpPr txBox="1">
            <a:spLocks/>
          </p:cNvSpPr>
          <p:nvPr userDrawn="1"/>
        </p:nvSpPr>
        <p:spPr bwMode="gray">
          <a:xfrm>
            <a:off x="300038" y="113217"/>
            <a:ext cx="9540874" cy="594000"/>
          </a:xfrm>
          <a:prstGeom prst="rect">
            <a:avLst/>
          </a:prstGeom>
        </p:spPr>
        <p:txBody>
          <a:bodyPr vert="horz" lIns="0" tIns="72000" rIns="0" bIns="72000" rtlCol="0" anchor="b">
            <a:noAutofit/>
          </a:bodyPr>
          <a:lstStyle>
            <a:lvl1pPr algn="l" defTabSz="6858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1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de-DE" dirty="0"/>
          </a:p>
        </p:txBody>
      </p:sp>
      <p:sp>
        <p:nvSpPr>
          <p:cNvPr id="10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300038" y="6558470"/>
            <a:ext cx="5355027" cy="244800"/>
          </a:xfrm>
          <a:prstGeom prst="rect">
            <a:avLst/>
          </a:prstGeom>
        </p:spPr>
        <p:txBody>
          <a:bodyPr lIns="0" rIns="0"/>
          <a:lstStyle>
            <a:lvl1pPr>
              <a:defRPr sz="900"/>
            </a:lvl1pPr>
          </a:lstStyle>
          <a:p>
            <a:r>
              <a:rPr lang="de-DE" sz="900" noProof="0">
                <a:solidFill>
                  <a:schemeClr val="tx2"/>
                </a:solidFill>
              </a:rPr>
              <a:t>Occasion / Author / </a:t>
            </a:r>
            <a:r>
              <a:rPr lang="nn-NO" sz="900" noProof="0">
                <a:solidFill>
                  <a:schemeClr val="tx2"/>
                </a:solidFill>
              </a:rPr>
              <a:t>KOMAK </a:t>
            </a:r>
            <a:r>
              <a:rPr lang="nn-NO" sz="900" noProof="0" dirty="0">
                <a:solidFill>
                  <a:schemeClr val="tx2"/>
                </a:solidFill>
              </a:rPr>
              <a:t>/ SAP-DocuLink implementation at KOMAK / Kristina K. / 29.08.2022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11" name="Slide Number Placeholder 11"/>
          <p:cNvSpPr>
            <a:spLocks noGrp="1"/>
          </p:cNvSpPr>
          <p:nvPr>
            <p:ph type="sldNum" sz="quarter" idx="4"/>
          </p:nvPr>
        </p:nvSpPr>
        <p:spPr>
          <a:xfrm>
            <a:off x="5655065" y="6558471"/>
            <a:ext cx="881871" cy="244799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900">
                <a:solidFill>
                  <a:srgbClr val="1E467D"/>
                </a:solidFill>
              </a:defRPr>
            </a:lvl1pPr>
          </a:lstStyle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01781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vmlDrawing" Target="../drawings/vmlDrawing1.vml"/><Relationship Id="rId1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kt 7" hidden="1"/>
          <p:cNvGraphicFramePr>
            <a:graphicFrameLocks noChangeAspect="1"/>
          </p:cNvGraphicFramePr>
          <p:nvPr userDrawn="1">
            <p:custDataLst>
              <p:tags r:id="rId14"/>
            </p:custDataLst>
            <p:extLst>
              <p:ext uri="{D42A27DB-BD31-4B8C-83A1-F6EECF244321}">
                <p14:modId xmlns:p14="http://schemas.microsoft.com/office/powerpoint/2010/main" val="36370910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90" name="think-cell Folie" r:id="rId16" imgW="353" imgH="353" progId="TCLayout.ActiveDocument.1">
                  <p:embed/>
                </p:oleObj>
              </mc:Choice>
              <mc:Fallback>
                <p:oleObj name="think-cell Folie" r:id="rId16" imgW="353" imgH="353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hteck 4" hidden="1"/>
          <p:cNvSpPr/>
          <p:nvPr userDrawn="1">
            <p:custDataLst>
              <p:tags r:id="rId15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bg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marL="0" lvl="0" indent="0" algn="ctr" eaLnBrk="1"/>
            <a:endParaRPr lang="de-DE" sz="1800" b="1" i="0" baseline="0" dirty="0" err="1">
              <a:solidFill>
                <a:schemeClr val="tx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 bwMode="gray">
          <a:xfrm>
            <a:off x="300038" y="113217"/>
            <a:ext cx="9540874" cy="594000"/>
          </a:xfrm>
          <a:prstGeom prst="rect">
            <a:avLst/>
          </a:prstGeom>
        </p:spPr>
        <p:txBody>
          <a:bodyPr vert="horz" lIns="0" tIns="72000" rIns="0" bIns="72000" rtlCol="0" anchor="b">
            <a:noAutofit/>
          </a:bodyPr>
          <a:lstStyle/>
          <a:p>
            <a:r>
              <a:rPr lang="en-US"/>
              <a:t>Click to edit Master title style</a:t>
            </a:r>
            <a:endParaRPr lang="de-DE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 bwMode="gray">
          <a:xfrm>
            <a:off x="300038" y="837588"/>
            <a:ext cx="11483974" cy="5687038"/>
          </a:xfrm>
          <a:prstGeom prst="rect">
            <a:avLst/>
          </a:prstGeom>
        </p:spPr>
        <p:txBody>
          <a:bodyPr vert="horz" lIns="0" tIns="360000" rIns="0" bIns="36000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pic>
        <p:nvPicPr>
          <p:cNvPr id="6" name="Grafik 5"/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6461" y="230400"/>
            <a:ext cx="1725025" cy="359634"/>
          </a:xfrm>
          <a:prstGeom prst="rect">
            <a:avLst/>
          </a:prstGeom>
        </p:spPr>
      </p:pic>
      <p:pic>
        <p:nvPicPr>
          <p:cNvPr id="7" name="Grafik 6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4526" y="6622963"/>
            <a:ext cx="1743312" cy="115814"/>
          </a:xfrm>
          <a:prstGeom prst="rect">
            <a:avLst/>
          </a:prstGeom>
        </p:spPr>
      </p:pic>
      <p:sp>
        <p:nvSpPr>
          <p:cNvPr id="11" name="Text Box 7"/>
          <p:cNvSpPr txBox="1">
            <a:spLocks noChangeArrowheads="1"/>
          </p:cNvSpPr>
          <p:nvPr/>
        </p:nvSpPr>
        <p:spPr bwMode="auto">
          <a:xfrm rot="16200000">
            <a:off x="9022855" y="3614034"/>
            <a:ext cx="5911865" cy="3175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46800" rIns="46800">
            <a:spAutoFit/>
          </a:bodyPr>
          <a:lstStyle>
            <a:lvl1pPr>
              <a:defRPr sz="1600" b="1">
                <a:solidFill>
                  <a:schemeClr val="tx2"/>
                </a:solidFill>
                <a:latin typeface="Arial" panose="020B0604020202020204" pitchFamily="34" charset="0"/>
                <a:ea typeface="Lucida Sans Unicode" panose="020B0602030504020204" pitchFamily="34" charset="0"/>
                <a:cs typeface="Lucida Sans Unicode" panose="020B0602030504020204" pitchFamily="34" charset="0"/>
              </a:defRPr>
            </a:lvl1pPr>
            <a:lvl2pPr marL="742950" indent="-285750">
              <a:defRPr sz="1600" b="1">
                <a:solidFill>
                  <a:schemeClr val="tx2"/>
                </a:solidFill>
                <a:latin typeface="Arial" panose="020B0604020202020204" pitchFamily="34" charset="0"/>
                <a:ea typeface="Lucida Sans Unicode" panose="020B0602030504020204" pitchFamily="34" charset="0"/>
                <a:cs typeface="Lucida Sans Unicode" panose="020B0602030504020204" pitchFamily="34" charset="0"/>
              </a:defRPr>
            </a:lvl2pPr>
            <a:lvl3pPr marL="1143000" indent="-228600">
              <a:defRPr sz="1600" b="1">
                <a:solidFill>
                  <a:schemeClr val="tx2"/>
                </a:solidFill>
                <a:latin typeface="Arial" panose="020B0604020202020204" pitchFamily="34" charset="0"/>
                <a:ea typeface="Lucida Sans Unicode" panose="020B0602030504020204" pitchFamily="34" charset="0"/>
                <a:cs typeface="Lucida Sans Unicode" panose="020B0602030504020204" pitchFamily="34" charset="0"/>
              </a:defRPr>
            </a:lvl3pPr>
            <a:lvl4pPr marL="1600200" indent="-228600">
              <a:defRPr sz="1600" b="1">
                <a:solidFill>
                  <a:schemeClr val="tx2"/>
                </a:solidFill>
                <a:latin typeface="Arial" panose="020B0604020202020204" pitchFamily="34" charset="0"/>
                <a:ea typeface="Lucida Sans Unicode" panose="020B0602030504020204" pitchFamily="34" charset="0"/>
                <a:cs typeface="Lucida Sans Unicode" panose="020B0602030504020204" pitchFamily="34" charset="0"/>
              </a:defRPr>
            </a:lvl4pPr>
            <a:lvl5pPr marL="2057400" indent="-228600">
              <a:defRPr sz="1600" b="1">
                <a:solidFill>
                  <a:schemeClr val="tx2"/>
                </a:solidFill>
                <a:latin typeface="Arial" panose="020B0604020202020204" pitchFamily="34" charset="0"/>
                <a:ea typeface="Lucida Sans Unicode" panose="020B0602030504020204" pitchFamily="34" charset="0"/>
                <a:cs typeface="Lucida Sans Unicode" panose="020B0602030504020204" pitchFamily="34" charset="0"/>
              </a:defRPr>
            </a:lvl5pPr>
            <a:lvl6pPr marL="2514600" indent="-228600" defTabSz="449263" eaLnBrk="0" fontAlgn="base" hangingPunct="0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defRPr sz="1600" b="1">
                <a:solidFill>
                  <a:schemeClr val="tx2"/>
                </a:solidFill>
                <a:latin typeface="Arial" panose="020B0604020202020204" pitchFamily="34" charset="0"/>
                <a:ea typeface="Lucida Sans Unicode" panose="020B0602030504020204" pitchFamily="34" charset="0"/>
                <a:cs typeface="Lucida Sans Unicode" panose="020B0602030504020204" pitchFamily="34" charset="0"/>
              </a:defRPr>
            </a:lvl6pPr>
            <a:lvl7pPr marL="2971800" indent="-228600" defTabSz="449263" eaLnBrk="0" fontAlgn="base" hangingPunct="0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defRPr sz="1600" b="1">
                <a:solidFill>
                  <a:schemeClr val="tx2"/>
                </a:solidFill>
                <a:latin typeface="Arial" panose="020B0604020202020204" pitchFamily="34" charset="0"/>
                <a:ea typeface="Lucida Sans Unicode" panose="020B0602030504020204" pitchFamily="34" charset="0"/>
                <a:cs typeface="Lucida Sans Unicode" panose="020B0602030504020204" pitchFamily="34" charset="0"/>
              </a:defRPr>
            </a:lvl7pPr>
            <a:lvl8pPr marL="3429000" indent="-228600" defTabSz="449263" eaLnBrk="0" fontAlgn="base" hangingPunct="0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defRPr sz="1600" b="1">
                <a:solidFill>
                  <a:schemeClr val="tx2"/>
                </a:solidFill>
                <a:latin typeface="Arial" panose="020B0604020202020204" pitchFamily="34" charset="0"/>
                <a:ea typeface="Lucida Sans Unicode" panose="020B0602030504020204" pitchFamily="34" charset="0"/>
                <a:cs typeface="Lucida Sans Unicode" panose="020B0602030504020204" pitchFamily="34" charset="0"/>
              </a:defRPr>
            </a:lvl8pPr>
            <a:lvl9pPr marL="3886200" indent="-228600" defTabSz="449263" eaLnBrk="0" fontAlgn="base" hangingPunct="0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defRPr sz="1600" b="1">
                <a:solidFill>
                  <a:schemeClr val="tx2"/>
                </a:solidFill>
                <a:latin typeface="Arial" panose="020B0604020202020204" pitchFamily="34" charset="0"/>
                <a:ea typeface="Lucida Sans Unicode" panose="020B0602030504020204" pitchFamily="34" charset="0"/>
                <a:cs typeface="Lucida Sans Unicode" panose="020B0602030504020204" pitchFamily="34" charset="0"/>
              </a:defRPr>
            </a:lvl9pPr>
          </a:lstStyle>
          <a:p>
            <a:pPr algn="ctr">
              <a:lnSpc>
                <a:spcPct val="95000"/>
              </a:lnSpc>
              <a:buClr>
                <a:srgbClr val="000000"/>
              </a:buClr>
              <a:buSzPct val="100000"/>
              <a:defRPr/>
            </a:pPr>
            <a:r>
              <a:rPr lang="en-US" altLang="de-DE" sz="770" b="0" noProof="0" dirty="0">
                <a:solidFill>
                  <a:schemeClr val="tx2"/>
                </a:solidFill>
              </a:rPr>
              <a:t>© 2022, KOSTAL </a:t>
            </a:r>
            <a:r>
              <a:rPr lang="en-US" altLang="de-DE" sz="770" b="0" noProof="0" dirty="0" err="1">
                <a:solidFill>
                  <a:schemeClr val="tx2"/>
                </a:solidFill>
              </a:rPr>
              <a:t>Automobil</a:t>
            </a:r>
            <a:r>
              <a:rPr lang="en-US" altLang="de-DE" sz="770" b="0" noProof="0" dirty="0">
                <a:solidFill>
                  <a:schemeClr val="tx2"/>
                </a:solidFill>
              </a:rPr>
              <a:t> </a:t>
            </a:r>
            <a:r>
              <a:rPr lang="en-US" altLang="de-DE" sz="770" b="0" noProof="0" dirty="0" err="1">
                <a:solidFill>
                  <a:schemeClr val="tx2"/>
                </a:solidFill>
              </a:rPr>
              <a:t>Elektrik</a:t>
            </a:r>
            <a:r>
              <a:rPr lang="en-US" altLang="de-DE" sz="770" b="0" noProof="0" dirty="0">
                <a:solidFill>
                  <a:schemeClr val="tx2"/>
                </a:solidFill>
              </a:rPr>
              <a:t> GmbH &amp; Co. KG. Contents and presentation are protected world-wide. Any kind of using,</a:t>
            </a:r>
          </a:p>
          <a:p>
            <a:pPr algn="ctr">
              <a:lnSpc>
                <a:spcPct val="95000"/>
              </a:lnSpc>
              <a:buClr>
                <a:srgbClr val="000000"/>
              </a:buClr>
              <a:buSzPct val="100000"/>
              <a:defRPr/>
            </a:pPr>
            <a:r>
              <a:rPr lang="en-US" altLang="de-DE" sz="770" b="0" noProof="0" dirty="0">
                <a:solidFill>
                  <a:schemeClr val="tx2"/>
                </a:solidFill>
              </a:rPr>
              <a:t>copying etc. is prohibited without prior permission. All rights - incl. Industrial property rights - are reserved.</a:t>
            </a:r>
          </a:p>
        </p:txBody>
      </p:sp>
      <p:sp>
        <p:nvSpPr>
          <p:cNvPr id="4" name="Rechteck 3"/>
          <p:cNvSpPr/>
          <p:nvPr userDrawn="1"/>
        </p:nvSpPr>
        <p:spPr>
          <a:xfrm>
            <a:off x="0" y="783507"/>
            <a:ext cx="12193847" cy="36000"/>
          </a:xfrm>
          <a:prstGeom prst="rect">
            <a:avLst/>
          </a:prstGeom>
          <a:gradFill flip="none" rotWithShape="1">
            <a:gsLst>
              <a:gs pos="0">
                <a:schemeClr val="tx2"/>
              </a:gs>
              <a:gs pos="50000">
                <a:schemeClr val="accent2"/>
              </a:gs>
              <a:gs pos="100000">
                <a:schemeClr val="accent3"/>
              </a:gs>
            </a:gsLst>
            <a:lin ang="0" scaled="1"/>
            <a:tileRect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/>
            <a:endParaRPr lang="de-DE" sz="1600" b="0" dirty="0" err="1">
              <a:solidFill>
                <a:schemeClr val="tx1"/>
              </a:solidFill>
            </a:endParaRPr>
          </a:p>
        </p:txBody>
      </p:sp>
      <p:sp>
        <p:nvSpPr>
          <p:cNvPr id="14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300038" y="6558470"/>
            <a:ext cx="5355027" cy="244800"/>
          </a:xfrm>
          <a:prstGeom prst="rect">
            <a:avLst/>
          </a:prstGeom>
        </p:spPr>
        <p:txBody>
          <a:bodyPr lIns="0" rIns="0"/>
          <a:lstStyle>
            <a:lvl1pPr>
              <a:defRPr sz="900"/>
            </a:lvl1pPr>
          </a:lstStyle>
          <a:p>
            <a:r>
              <a:rPr lang="de-DE" sz="900" noProof="0">
                <a:solidFill>
                  <a:schemeClr val="tx2"/>
                </a:solidFill>
              </a:rPr>
              <a:t>Occasion / Author / </a:t>
            </a:r>
            <a:r>
              <a:rPr lang="nn-NO" sz="900" noProof="0">
                <a:solidFill>
                  <a:schemeClr val="tx2"/>
                </a:solidFill>
              </a:rPr>
              <a:t>KOMAK </a:t>
            </a:r>
            <a:r>
              <a:rPr lang="nn-NO" sz="900" noProof="0" dirty="0">
                <a:solidFill>
                  <a:schemeClr val="tx2"/>
                </a:solidFill>
              </a:rPr>
              <a:t>/ SAP-DocuLink implementation at KOMAK / Kristina K. / 29.08.2022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15" name="Slide Number Placeholder 11"/>
          <p:cNvSpPr>
            <a:spLocks noGrp="1"/>
          </p:cNvSpPr>
          <p:nvPr>
            <p:ph type="sldNum" sz="quarter" idx="4"/>
          </p:nvPr>
        </p:nvSpPr>
        <p:spPr>
          <a:xfrm>
            <a:off x="5655065" y="6558471"/>
            <a:ext cx="881871" cy="244799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900">
                <a:solidFill>
                  <a:srgbClr val="1E467D"/>
                </a:solidFill>
              </a:defRPr>
            </a:lvl1pPr>
          </a:lstStyle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31950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18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Tx/>
        <a:buNone/>
        <a:defRPr sz="1600" b="1" kern="1200">
          <a:solidFill>
            <a:schemeClr val="tx2"/>
          </a:solidFill>
          <a:latin typeface="+mn-lt"/>
          <a:ea typeface="+mn-ea"/>
          <a:cs typeface="+mn-cs"/>
        </a:defRPr>
      </a:lvl1pPr>
      <a:lvl2pPr marL="342000" indent="-342000" algn="l" defTabSz="68580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Wingdings" panose="05000000000000000000" pitchFamily="2" charset="2"/>
        <a:buChar char="§"/>
        <a:defRPr sz="1600" b="1" kern="1200">
          <a:solidFill>
            <a:schemeClr val="tx2"/>
          </a:solidFill>
          <a:latin typeface="+mn-lt"/>
          <a:ea typeface="+mn-ea"/>
          <a:cs typeface="+mn-cs"/>
        </a:defRPr>
      </a:lvl2pPr>
      <a:lvl3pPr marL="741600" indent="-342000" algn="l" defTabSz="685800" rtl="0" eaLnBrk="1" latinLnBrk="0" hangingPunct="1">
        <a:lnSpc>
          <a:spcPct val="100000"/>
        </a:lnSpc>
        <a:spcBef>
          <a:spcPts val="300"/>
        </a:spcBef>
        <a:buClr>
          <a:schemeClr val="tx2"/>
        </a:buClr>
        <a:buFont typeface="Wingdings" panose="05000000000000000000" pitchFamily="2" charset="2"/>
        <a:buChar char="§"/>
        <a:defRPr sz="1200" kern="1200">
          <a:solidFill>
            <a:schemeClr val="tx2"/>
          </a:solidFill>
          <a:latin typeface="+mn-lt"/>
          <a:ea typeface="+mn-ea"/>
          <a:cs typeface="+mn-cs"/>
        </a:defRPr>
      </a:lvl3pPr>
      <a:lvl4pPr marL="1144800" indent="-230400" algn="l" defTabSz="685800" rtl="0" eaLnBrk="1" latinLnBrk="0" hangingPunct="1">
        <a:lnSpc>
          <a:spcPct val="100000"/>
        </a:lnSpc>
        <a:spcBef>
          <a:spcPts val="300"/>
        </a:spcBef>
        <a:buClr>
          <a:schemeClr val="tx2"/>
        </a:buClr>
        <a:buFont typeface="Wingdings" panose="05000000000000000000" pitchFamily="2" charset="2"/>
        <a:buChar char="§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165600" algn="l" defTabSz="685800" rtl="0" eaLnBrk="1" latinLnBrk="0" hangingPunct="1">
        <a:lnSpc>
          <a:spcPct val="100000"/>
        </a:lnSpc>
        <a:spcBef>
          <a:spcPts val="300"/>
        </a:spcBef>
        <a:buClr>
          <a:schemeClr val="tx2"/>
        </a:buClr>
        <a:buFont typeface="Wingdings" panose="05000000000000000000" pitchFamily="2" charset="2"/>
        <a:buChar char="§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04" userDrawn="1">
          <p15:clr>
            <a:srgbClr val="F26B43"/>
          </p15:clr>
        </p15:guide>
        <p15:guide id="2" pos="189">
          <p15:clr>
            <a:srgbClr val="F26B43"/>
          </p15:clr>
        </p15:guide>
        <p15:guide id="3" pos="7423">
          <p15:clr>
            <a:srgbClr val="F26B43"/>
          </p15:clr>
        </p15:guide>
        <p15:guide id="4" orient="horz" pos="411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microsoft.com/office/2007/relationships/media" Target="../media/media2.mp4"/><Relationship Id="rId7" Type="http://schemas.openxmlformats.org/officeDocument/2006/relationships/image" Target="../media/image22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6.xml"/><Relationship Id="rId4" Type="http://schemas.openxmlformats.org/officeDocument/2006/relationships/video" Target="../media/media2.mp4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4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 dirty="0"/>
              <a:t>Automation of Data Flow </a:t>
            </a:r>
            <a:r>
              <a:rPr lang="en-US" sz="4000" b="1" dirty="0" smtClean="0"/>
              <a:t>from </a:t>
            </a:r>
            <a:r>
              <a:rPr lang="en-US" sz="4000" b="1" dirty="0"/>
              <a:t>Volkswagen BEON to SAP </a:t>
            </a:r>
            <a:r>
              <a:rPr lang="en-US" sz="4000" b="1" dirty="0" err="1"/>
              <a:t>DocuLink</a:t>
            </a:r>
            <a:endParaRPr lang="en-US" sz="4000" b="1" noProof="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31200" y="3588455"/>
            <a:ext cx="8534400" cy="1753200"/>
          </a:xfrm>
        </p:spPr>
        <p:txBody>
          <a:bodyPr/>
          <a:lstStyle/>
          <a:p>
            <a:r>
              <a:rPr lang="de-DE" sz="1800" dirty="0"/>
              <a:t>Presented by: Blagoja </a:t>
            </a:r>
            <a:r>
              <a:rPr lang="de-DE" sz="1800" dirty="0" smtClean="0"/>
              <a:t>Pavleski</a:t>
            </a:r>
          </a:p>
          <a:p>
            <a:r>
              <a:rPr lang="de-DE" sz="1800" dirty="0" smtClean="0"/>
              <a:t>AQA intern</a:t>
            </a:r>
          </a:p>
          <a:p>
            <a:endParaRPr lang="de-DE" sz="1800" dirty="0" smtClean="0"/>
          </a:p>
          <a:p>
            <a:r>
              <a:rPr lang="de-DE" sz="1800" dirty="0" smtClean="0"/>
              <a:t>Mentor: Mitko Talevski</a:t>
            </a:r>
          </a:p>
          <a:p>
            <a:r>
              <a:rPr lang="de-DE" sz="1800" dirty="0" smtClean="0"/>
              <a:t>AQA</a:t>
            </a:r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21301985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Project overview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2</a:t>
            </a:fld>
            <a:endParaRPr lang="de-DE" dirty="0"/>
          </a:p>
        </p:txBody>
      </p:sp>
      <p:sp>
        <p:nvSpPr>
          <p:cNvPr id="6" name="Footer Placeholder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>
                <a:solidFill>
                  <a:srgbClr val="1E467D"/>
                </a:solidFill>
              </a:rPr>
              <a:t>KOMAK </a:t>
            </a:r>
            <a:r>
              <a:rPr lang="de-DE" noProof="0" dirty="0">
                <a:solidFill>
                  <a:srgbClr val="1E467D"/>
                </a:solidFill>
              </a:rPr>
              <a:t>/ </a:t>
            </a:r>
            <a:r>
              <a:rPr lang="en-US" dirty="0">
                <a:solidFill>
                  <a:srgbClr val="1E467D"/>
                </a:solidFill>
              </a:rPr>
              <a:t>Automation of Data Flow From Volkswagen BEON to SAP </a:t>
            </a:r>
            <a:r>
              <a:rPr lang="en-US" dirty="0" err="1">
                <a:solidFill>
                  <a:srgbClr val="1E467D"/>
                </a:solidFill>
              </a:rPr>
              <a:t>DocuLink</a:t>
            </a:r>
            <a:r>
              <a:rPr lang="en-US" dirty="0">
                <a:solidFill>
                  <a:srgbClr val="1E467D"/>
                </a:solidFill>
              </a:rPr>
              <a:t> / Blagoja P.</a:t>
            </a:r>
            <a:r>
              <a:rPr lang="de-DE" noProof="0" dirty="0">
                <a:solidFill>
                  <a:srgbClr val="1E467D"/>
                </a:solidFill>
              </a:rPr>
              <a:t> / 18.0</a:t>
            </a:r>
            <a:r>
              <a:rPr lang="de-DE" dirty="0">
                <a:solidFill>
                  <a:srgbClr val="1E467D"/>
                </a:solidFill>
              </a:rPr>
              <a:t>9</a:t>
            </a:r>
            <a:r>
              <a:rPr lang="de-DE" noProof="0" dirty="0">
                <a:solidFill>
                  <a:srgbClr val="1E467D"/>
                </a:solidFill>
              </a:rPr>
              <a:t>.2026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xmlns="" id="{C4D51B4A-C4D1-F786-34A5-7459C87E16E6}"/>
              </a:ext>
            </a:extLst>
          </p:cNvPr>
          <p:cNvSpPr txBox="1">
            <a:spLocks/>
          </p:cNvSpPr>
          <p:nvPr/>
        </p:nvSpPr>
        <p:spPr>
          <a:xfrm>
            <a:off x="300038" y="895738"/>
            <a:ext cx="11430000" cy="5486400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E8B1037F-964B-7EDC-6F7D-64F2ED350504}"/>
              </a:ext>
            </a:extLst>
          </p:cNvPr>
          <p:cNvSpPr txBox="1">
            <a:spLocks/>
          </p:cNvSpPr>
          <p:nvPr/>
        </p:nvSpPr>
        <p:spPr>
          <a:xfrm>
            <a:off x="300037" y="995511"/>
            <a:ext cx="11429999" cy="5486400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800" dirty="0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5" y="2326692"/>
            <a:ext cx="3530649" cy="2821185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9284" y="2326692"/>
            <a:ext cx="3530649" cy="2821185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8534" y="2326692"/>
            <a:ext cx="3530649" cy="2821185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160" y="2602917"/>
            <a:ext cx="609600" cy="6096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38160" y="3383967"/>
            <a:ext cx="3207119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1E293B"/>
                </a:solidFill>
                <a:latin typeface="Poppins SemiBold"/>
              </a:rPr>
              <a:t>The Problem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8160" y="3812592"/>
            <a:ext cx="3054399" cy="12182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860"/>
              </a:lnSpc>
            </a:pPr>
            <a:r>
              <a:rPr lang="en-US" sz="1200" dirty="0">
                <a:solidFill>
                  <a:srgbClr val="475569"/>
                </a:solidFill>
                <a:latin typeface="Inter"/>
              </a:rPr>
              <a:t>A repetitive manual process required transferring customer response information between</a:t>
            </a:r>
            <a:r>
              <a:rPr lang="en-US" sz="1200" dirty="0" smtClean="0">
                <a:solidFill>
                  <a:srgbClr val="475569"/>
                </a:solidFill>
                <a:latin typeface="Inter"/>
              </a:rPr>
              <a:t>: </a:t>
            </a:r>
            <a:br>
              <a:rPr lang="en-US" sz="1200" dirty="0" smtClean="0">
                <a:solidFill>
                  <a:srgbClr val="475569"/>
                </a:solidFill>
                <a:latin typeface="Inter"/>
              </a:rPr>
            </a:br>
            <a:r>
              <a:rPr sz="1200" b="0" i="0" u="none" dirty="0" smtClean="0">
                <a:solidFill>
                  <a:srgbClr val="475569"/>
                </a:solidFill>
                <a:latin typeface="Inter"/>
              </a:rPr>
              <a:t>Volkswagen BEON</a:t>
            </a:r>
            <a:r>
              <a:rPr lang="en-US" sz="1200" b="0" i="0" u="none" dirty="0" smtClean="0">
                <a:solidFill>
                  <a:srgbClr val="475569"/>
                </a:solidFill>
                <a:latin typeface="Inter"/>
              </a:rPr>
              <a:t>, </a:t>
            </a:r>
            <a:r>
              <a:rPr sz="1200" b="0" i="0" u="none" dirty="0" smtClean="0">
                <a:solidFill>
                  <a:srgbClr val="475569"/>
                </a:solidFill>
                <a:latin typeface="Inter"/>
              </a:rPr>
              <a:t>PDF</a:t>
            </a:r>
            <a:r>
              <a:rPr lang="en-US" sz="1200" b="0" i="0" u="none" dirty="0" smtClean="0">
                <a:solidFill>
                  <a:srgbClr val="475569"/>
                </a:solidFill>
                <a:latin typeface="Inter"/>
              </a:rPr>
              <a:t>, </a:t>
            </a:r>
            <a:r>
              <a:rPr sz="1200" b="0" i="0" u="none" dirty="0" smtClean="0">
                <a:solidFill>
                  <a:srgbClr val="475569"/>
                </a:solidFill>
                <a:latin typeface="Inter"/>
              </a:rPr>
              <a:t>Excel</a:t>
            </a:r>
            <a:r>
              <a:rPr lang="en-US" sz="1200" dirty="0">
                <a:solidFill>
                  <a:srgbClr val="475569"/>
                </a:solidFill>
                <a:latin typeface="Inter"/>
              </a:rPr>
              <a:t> </a:t>
            </a:r>
            <a:r>
              <a:rPr lang="en-US" sz="1200" dirty="0" smtClean="0">
                <a:solidFill>
                  <a:srgbClr val="475569"/>
                </a:solidFill>
                <a:latin typeface="Inter"/>
              </a:rPr>
              <a:t>and </a:t>
            </a:r>
            <a:r>
              <a:rPr sz="1200" b="0" i="0" u="none" dirty="0" smtClean="0">
                <a:solidFill>
                  <a:srgbClr val="475569"/>
                </a:solidFill>
                <a:latin typeface="Inter"/>
              </a:rPr>
              <a:t>SAP </a:t>
            </a:r>
            <a:r>
              <a:rPr sz="1200" b="0" i="0" u="none" dirty="0" err="1">
                <a:solidFill>
                  <a:srgbClr val="475569"/>
                </a:solidFill>
                <a:latin typeface="Inter"/>
              </a:rPr>
              <a:t>DocuLink</a:t>
            </a:r>
            <a:r>
              <a:rPr sz="1200" b="0" i="0" u="none" dirty="0">
                <a:solidFill>
                  <a:srgbClr val="475569"/>
                </a:solidFill>
                <a:latin typeface="Inter"/>
              </a:rPr>
              <a:t>.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409" y="2602917"/>
            <a:ext cx="609600" cy="6096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297409" y="3383967"/>
            <a:ext cx="3207119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1E293B"/>
                </a:solidFill>
                <a:latin typeface="Poppins SemiBold"/>
              </a:rPr>
              <a:t>The Goal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409" y="3812592"/>
            <a:ext cx="3054399" cy="7309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860"/>
              </a:lnSpc>
            </a:pPr>
            <a:r>
              <a:rPr lang="en-US" sz="1200" dirty="0" smtClean="0">
                <a:solidFill>
                  <a:srgbClr val="475569"/>
                </a:solidFill>
                <a:latin typeface="Inter"/>
              </a:rPr>
              <a:t>Automate repetitive tasks, reduce manual data entry, and improve processing efficiency.</a:t>
            </a:r>
            <a:endParaRPr sz="1200" b="0" i="0" u="none" dirty="0">
              <a:solidFill>
                <a:srgbClr val="475569"/>
              </a:solidFill>
              <a:latin typeface="Inter"/>
            </a:endParaRP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56659" y="2602917"/>
            <a:ext cx="609600" cy="6096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056659" y="3383967"/>
            <a:ext cx="3207119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1E293B"/>
                </a:solidFill>
                <a:latin typeface="Poppins SemiBold"/>
              </a:rPr>
              <a:t>The Solution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56659" y="3812592"/>
            <a:ext cx="3054399" cy="12182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860"/>
              </a:lnSpc>
            </a:pPr>
            <a:r>
              <a:rPr lang="en-US" sz="1200" dirty="0">
                <a:solidFill>
                  <a:srgbClr val="475569"/>
                </a:solidFill>
                <a:latin typeface="Inter"/>
              </a:rPr>
              <a:t>A two-stage Robotic Process Automation (RPA) solution developed using Microsoft Power </a:t>
            </a:r>
            <a:r>
              <a:rPr lang="en-US" sz="1200" dirty="0" smtClean="0">
                <a:solidFill>
                  <a:srgbClr val="475569"/>
                </a:solidFill>
                <a:latin typeface="Inter"/>
              </a:rPr>
              <a:t>Automate.</a:t>
            </a:r>
            <a:r>
              <a:rPr lang="en-US" sz="1200" dirty="0">
                <a:solidFill>
                  <a:srgbClr val="475569"/>
                </a:solidFill>
                <a:latin typeface="Inter"/>
              </a:rPr>
              <a:t/>
            </a:r>
            <a:br>
              <a:rPr lang="en-US" sz="1200" dirty="0">
                <a:solidFill>
                  <a:srgbClr val="475569"/>
                </a:solidFill>
                <a:latin typeface="Inter"/>
              </a:rPr>
            </a:br>
            <a:r>
              <a:rPr lang="en-US" sz="1200" dirty="0">
                <a:solidFill>
                  <a:srgbClr val="475569"/>
                </a:solidFill>
                <a:latin typeface="Inter"/>
              </a:rPr>
              <a:t>PDF → Excel → Human Verification → SAP </a:t>
            </a:r>
            <a:r>
              <a:rPr lang="en-US" sz="1200" dirty="0" err="1">
                <a:solidFill>
                  <a:srgbClr val="475569"/>
                </a:solidFill>
                <a:latin typeface="Inter"/>
              </a:rPr>
              <a:t>DocuLink</a:t>
            </a:r>
            <a:endParaRPr sz="1200" b="0" i="0" u="none" dirty="0">
              <a:solidFill>
                <a:srgbClr val="475569"/>
              </a:solidFill>
              <a:latin typeface="Inter"/>
            </a:endParaRPr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1510" y="2736267"/>
            <a:ext cx="342900" cy="342900"/>
          </a:xfrm>
          <a:prstGeom prst="rect">
            <a:avLst/>
          </a:prstGeom>
        </p:spPr>
      </p:pic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30759" y="2736267"/>
            <a:ext cx="342900" cy="342900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47146" y="2736267"/>
            <a:ext cx="428625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727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04F68E-7479-5C5F-F7C1-260D1FBCF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xmlns="" id="{C2FED81F-9B46-1575-45DB-AA4C7225F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smtClean="0"/>
              <a:t>Before Automation: The Manual Workflow</a:t>
            </a:r>
            <a:endParaRPr lang="en-US" noProof="0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05E84AAC-AB39-790B-52CD-048A70BA1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3</a:t>
            </a:fld>
            <a:endParaRPr lang="de-DE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xmlns="" id="{F7CE67FB-171A-35F0-FF2D-C1B8604798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>
                <a:solidFill>
                  <a:srgbClr val="1E467D"/>
                </a:solidFill>
              </a:rPr>
              <a:t>KOMAK </a:t>
            </a:r>
            <a:r>
              <a:rPr lang="de-DE" noProof="0" dirty="0">
                <a:solidFill>
                  <a:srgbClr val="1E467D"/>
                </a:solidFill>
              </a:rPr>
              <a:t>/ </a:t>
            </a:r>
            <a:r>
              <a:rPr lang="en-US" dirty="0">
                <a:solidFill>
                  <a:srgbClr val="1E467D"/>
                </a:solidFill>
              </a:rPr>
              <a:t>Automation of Data Flow From Volkswagen BEON to SAP </a:t>
            </a:r>
            <a:r>
              <a:rPr lang="en-US" dirty="0" err="1">
                <a:solidFill>
                  <a:srgbClr val="1E467D"/>
                </a:solidFill>
              </a:rPr>
              <a:t>DocuLink</a:t>
            </a:r>
            <a:r>
              <a:rPr lang="en-US" dirty="0">
                <a:solidFill>
                  <a:srgbClr val="1E467D"/>
                </a:solidFill>
              </a:rPr>
              <a:t> / Blagoja P.</a:t>
            </a:r>
            <a:r>
              <a:rPr lang="de-DE" noProof="0" dirty="0">
                <a:solidFill>
                  <a:srgbClr val="1E467D"/>
                </a:solidFill>
              </a:rPr>
              <a:t> / 18.0</a:t>
            </a:r>
            <a:r>
              <a:rPr lang="de-DE" dirty="0">
                <a:solidFill>
                  <a:srgbClr val="1E467D"/>
                </a:solidFill>
              </a:rPr>
              <a:t>9</a:t>
            </a:r>
            <a:r>
              <a:rPr lang="de-DE" noProof="0" dirty="0">
                <a:solidFill>
                  <a:srgbClr val="1E467D"/>
                </a:solidFill>
              </a:rPr>
              <a:t>.2026</a:t>
            </a:r>
            <a:endParaRPr lang="de-DE" dirty="0">
              <a:solidFill>
                <a:srgbClr val="1E467D"/>
              </a:solidFill>
            </a:endParaRP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906" y="2401736"/>
            <a:ext cx="2541240" cy="1041796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3825" y="883689"/>
            <a:ext cx="2541240" cy="1041796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9745" y="2401736"/>
            <a:ext cx="2541240" cy="1041796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5665" y="883689"/>
            <a:ext cx="2541240" cy="104179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77906" y="2144560"/>
            <a:ext cx="11430000" cy="45719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4396" y="2563661"/>
            <a:ext cx="2328259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75" b="0" i="0" u="none">
                <a:solidFill>
                  <a:srgbClr val="2563EB"/>
                </a:solidFill>
                <a:latin typeface="Poppins SemiBold"/>
              </a:rPr>
              <a:t>1. VW BEON Portal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831" y="2868461"/>
            <a:ext cx="2217390" cy="4131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27"/>
              </a:lnSpc>
            </a:pPr>
            <a:r>
              <a:rPr sz="1050" b="0" i="0" u="none">
                <a:solidFill>
                  <a:srgbClr val="475569"/>
                </a:solidFill>
                <a:latin typeface="Inter"/>
              </a:rPr>
              <a:t>Navigate portal and search customer reports.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20316" y="1045614"/>
            <a:ext cx="2328259" cy="1962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75" b="0" i="0" u="none" dirty="0">
                <a:solidFill>
                  <a:srgbClr val="2563EB"/>
                </a:solidFill>
                <a:latin typeface="Poppins SemiBold"/>
              </a:rPr>
              <a:t>2. </a:t>
            </a:r>
            <a:r>
              <a:rPr lang="en-US" sz="1275" b="0" i="0" u="none" dirty="0" smtClean="0">
                <a:solidFill>
                  <a:srgbClr val="2563EB"/>
                </a:solidFill>
                <a:latin typeface="Poppins SemiBold"/>
              </a:rPr>
              <a:t>Download </a:t>
            </a:r>
            <a:r>
              <a:rPr sz="1275" b="0" i="0" u="none" dirty="0" smtClean="0">
                <a:solidFill>
                  <a:srgbClr val="2563EB"/>
                </a:solidFill>
                <a:latin typeface="Poppins SemiBold"/>
              </a:rPr>
              <a:t>&amp; </a:t>
            </a:r>
            <a:r>
              <a:rPr lang="en-US" sz="1275" b="0" i="0" u="none" dirty="0" smtClean="0">
                <a:solidFill>
                  <a:srgbClr val="2563EB"/>
                </a:solidFill>
                <a:latin typeface="Poppins SemiBold"/>
              </a:rPr>
              <a:t>Store PDF</a:t>
            </a:r>
            <a:endParaRPr sz="1275" b="0" i="0" u="none" dirty="0">
              <a:solidFill>
                <a:srgbClr val="2563EB"/>
              </a:solidFill>
              <a:latin typeface="Poppins SemiBold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275750" y="1350414"/>
            <a:ext cx="2217390" cy="410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27"/>
              </a:lnSpc>
            </a:pPr>
            <a:r>
              <a:rPr sz="1050" b="0" i="0" u="none" dirty="0">
                <a:solidFill>
                  <a:srgbClr val="475569"/>
                </a:solidFill>
                <a:latin typeface="Inter"/>
              </a:rPr>
              <a:t>Download PDF report and manually </a:t>
            </a:r>
            <a:r>
              <a:rPr lang="en-US" sz="1050" b="0" i="0" u="none" dirty="0" smtClean="0">
                <a:solidFill>
                  <a:srgbClr val="475569"/>
                </a:solidFill>
                <a:latin typeface="Inter"/>
              </a:rPr>
              <a:t>store </a:t>
            </a:r>
            <a:r>
              <a:rPr sz="1050" b="0" i="0" u="none" dirty="0" smtClean="0">
                <a:solidFill>
                  <a:srgbClr val="475569"/>
                </a:solidFill>
                <a:latin typeface="Inter"/>
              </a:rPr>
              <a:t>data</a:t>
            </a:r>
            <a:r>
              <a:rPr sz="1050" b="0" i="0" u="none" dirty="0">
                <a:solidFill>
                  <a:srgbClr val="475569"/>
                </a:solidFill>
                <a:latin typeface="Inter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6236" y="2563661"/>
            <a:ext cx="2328259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75" b="0" i="0" u="none" dirty="0">
                <a:solidFill>
                  <a:srgbClr val="2563EB"/>
                </a:solidFill>
                <a:latin typeface="Poppins SemiBold"/>
              </a:rPr>
              <a:t>3. Excel Entry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11670" y="2868461"/>
            <a:ext cx="2217390" cy="4131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27"/>
              </a:lnSpc>
            </a:pPr>
            <a:r>
              <a:rPr sz="1050" b="0" i="0" u="none" dirty="0">
                <a:solidFill>
                  <a:srgbClr val="475569"/>
                </a:solidFill>
                <a:latin typeface="Inter"/>
              </a:rPr>
              <a:t>Manually type </a:t>
            </a:r>
            <a:r>
              <a:rPr sz="1050" b="0" i="0" u="none" dirty="0" smtClean="0">
                <a:solidFill>
                  <a:srgbClr val="475569"/>
                </a:solidFill>
                <a:latin typeface="Inter"/>
              </a:rPr>
              <a:t>~</a:t>
            </a:r>
            <a:r>
              <a:rPr lang="en-US" sz="1050" b="0" i="0" u="none" dirty="0" smtClean="0">
                <a:solidFill>
                  <a:srgbClr val="475569"/>
                </a:solidFill>
                <a:latin typeface="Inter"/>
              </a:rPr>
              <a:t>4</a:t>
            </a:r>
            <a:r>
              <a:rPr sz="1050" b="0" i="0" u="none" dirty="0" smtClean="0">
                <a:solidFill>
                  <a:srgbClr val="475569"/>
                </a:solidFill>
                <a:latin typeface="Inter"/>
              </a:rPr>
              <a:t>0 </a:t>
            </a:r>
            <a:r>
              <a:rPr sz="1050" b="0" i="0" u="none" dirty="0">
                <a:solidFill>
                  <a:srgbClr val="475569"/>
                </a:solidFill>
                <a:latin typeface="Inter"/>
              </a:rPr>
              <a:t>attributes per document into Excel.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2156" y="1045614"/>
            <a:ext cx="2328259" cy="1962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75" b="0" i="0" u="none" dirty="0">
                <a:solidFill>
                  <a:srgbClr val="2563EB"/>
                </a:solidFill>
                <a:latin typeface="Poppins SemiBold"/>
              </a:rPr>
              <a:t>4. </a:t>
            </a:r>
            <a:r>
              <a:rPr lang="en-US" sz="1275" b="0" i="0" u="none" dirty="0" smtClean="0">
                <a:solidFill>
                  <a:srgbClr val="2563EB"/>
                </a:solidFill>
                <a:latin typeface="Poppins SemiBold"/>
              </a:rPr>
              <a:t>Open SAP &amp; Transaction</a:t>
            </a:r>
            <a:endParaRPr sz="1275" b="0" i="0" u="none" dirty="0">
              <a:solidFill>
                <a:srgbClr val="2563EB"/>
              </a:solidFill>
              <a:latin typeface="Poppins SemiBold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947590" y="1350414"/>
            <a:ext cx="2217390" cy="205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27"/>
              </a:lnSpc>
            </a:pPr>
            <a:r>
              <a:rPr lang="en-US" sz="1050" b="0" i="0" u="none" dirty="0" smtClean="0">
                <a:solidFill>
                  <a:srgbClr val="475569"/>
                </a:solidFill>
                <a:latin typeface="Inter"/>
              </a:rPr>
              <a:t>Log In and open the right transaction</a:t>
            </a:r>
            <a:r>
              <a:rPr sz="1050" b="0" i="0" u="none" dirty="0" smtClean="0">
                <a:solidFill>
                  <a:srgbClr val="475569"/>
                </a:solidFill>
                <a:latin typeface="Inter"/>
              </a:rPr>
              <a:t>.</a:t>
            </a:r>
            <a:endParaRPr sz="1050" b="0" i="0" u="none" dirty="0">
              <a:solidFill>
                <a:srgbClr val="475569"/>
              </a:solidFill>
              <a:latin typeface="Inter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1453276" y="2068361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289196" y="2068361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125115" y="2068361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961035" y="2068361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056" y="5074512"/>
            <a:ext cx="2541240" cy="1041796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2975" y="3556465"/>
            <a:ext cx="2541240" cy="1041796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8895" y="5074512"/>
            <a:ext cx="2541240" cy="1041796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4815" y="3556465"/>
            <a:ext cx="2541240" cy="1041796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317056" y="4817336"/>
            <a:ext cx="11390850" cy="45719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23546" y="5236437"/>
            <a:ext cx="2328259" cy="1962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275" dirty="0">
                <a:solidFill>
                  <a:srgbClr val="2563EB"/>
                </a:solidFill>
                <a:latin typeface="Poppins SemiBold"/>
              </a:rPr>
              <a:t>8</a:t>
            </a:r>
            <a:r>
              <a:rPr sz="1275" b="0" i="0" u="none" dirty="0" smtClean="0">
                <a:solidFill>
                  <a:srgbClr val="2563EB"/>
                </a:solidFill>
                <a:latin typeface="Poppins SemiBold"/>
              </a:rPr>
              <a:t>. </a:t>
            </a:r>
            <a:r>
              <a:rPr lang="en-US" sz="1275" b="0" i="0" u="none" dirty="0" smtClean="0">
                <a:solidFill>
                  <a:srgbClr val="2563EB"/>
                </a:solidFill>
                <a:latin typeface="Poppins SemiBold"/>
              </a:rPr>
              <a:t>Repeat</a:t>
            </a:r>
            <a:endParaRPr sz="1275" b="0" i="0" u="none" dirty="0">
              <a:solidFill>
                <a:srgbClr val="2563EB"/>
              </a:solidFill>
              <a:latin typeface="Poppins SemiBold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78981" y="5541237"/>
            <a:ext cx="2217390" cy="410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27"/>
              </a:lnSpc>
            </a:pPr>
            <a:r>
              <a:rPr lang="en-US" sz="1050" b="0" i="0" u="none" dirty="0" smtClean="0">
                <a:solidFill>
                  <a:srgbClr val="475569"/>
                </a:solidFill>
                <a:latin typeface="Inter"/>
              </a:rPr>
              <a:t>Repeat the process for every material number.</a:t>
            </a:r>
            <a:endParaRPr sz="1050" b="0" i="0" u="none" dirty="0">
              <a:solidFill>
                <a:srgbClr val="475569"/>
              </a:solidFill>
              <a:latin typeface="Inter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259466" y="3718390"/>
            <a:ext cx="2328259" cy="1962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275" dirty="0">
                <a:solidFill>
                  <a:srgbClr val="2563EB"/>
                </a:solidFill>
                <a:latin typeface="Poppins SemiBold"/>
              </a:rPr>
              <a:t>7</a:t>
            </a:r>
            <a:r>
              <a:rPr sz="1275" b="0" i="0" u="none" dirty="0" smtClean="0">
                <a:solidFill>
                  <a:srgbClr val="2563EB"/>
                </a:solidFill>
                <a:latin typeface="Poppins SemiBold"/>
              </a:rPr>
              <a:t>. </a:t>
            </a:r>
            <a:r>
              <a:rPr lang="en-US" sz="1275" b="0" i="0" u="none" dirty="0" smtClean="0">
                <a:solidFill>
                  <a:srgbClr val="2563EB"/>
                </a:solidFill>
                <a:latin typeface="Poppins SemiBold"/>
              </a:rPr>
              <a:t>PDF Upload</a:t>
            </a:r>
            <a:endParaRPr sz="1275" b="0" i="0" u="none" dirty="0">
              <a:solidFill>
                <a:srgbClr val="2563EB"/>
              </a:solidFill>
              <a:latin typeface="Poppins SemiBold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314900" y="4023190"/>
            <a:ext cx="2217390" cy="410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27"/>
              </a:lnSpc>
            </a:pPr>
            <a:r>
              <a:rPr lang="en-US" sz="1050" b="0" i="0" u="none" dirty="0" smtClean="0">
                <a:solidFill>
                  <a:srgbClr val="475569"/>
                </a:solidFill>
                <a:latin typeface="Inter"/>
              </a:rPr>
              <a:t>Upload the corresponding PDF in another input mask.</a:t>
            </a:r>
            <a:endParaRPr sz="1050" b="0" i="0" u="none" dirty="0">
              <a:solidFill>
                <a:srgbClr val="475569"/>
              </a:solidFill>
              <a:latin typeface="Inter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095386" y="5236437"/>
            <a:ext cx="2328259" cy="3924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275" dirty="0" smtClean="0">
                <a:solidFill>
                  <a:srgbClr val="2563EB"/>
                </a:solidFill>
                <a:latin typeface="Poppins SemiBold"/>
              </a:rPr>
              <a:t>6</a:t>
            </a:r>
            <a:r>
              <a:rPr sz="1275" b="0" i="0" u="none" dirty="0" smtClean="0">
                <a:solidFill>
                  <a:srgbClr val="2563EB"/>
                </a:solidFill>
                <a:latin typeface="Poppins SemiBold"/>
              </a:rPr>
              <a:t>. Ent</a:t>
            </a:r>
            <a:r>
              <a:rPr lang="en-US" sz="1275" b="0" i="0" u="none" dirty="0" smtClean="0">
                <a:solidFill>
                  <a:srgbClr val="2563EB"/>
                </a:solidFill>
                <a:latin typeface="Poppins SemiBold"/>
              </a:rPr>
              <a:t>er the Customer Response Info.</a:t>
            </a:r>
            <a:endParaRPr sz="1275" b="0" i="0" u="none" dirty="0">
              <a:solidFill>
                <a:srgbClr val="2563EB"/>
              </a:solidFill>
              <a:latin typeface="Poppins SemiBold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150820" y="5628852"/>
            <a:ext cx="2217390" cy="410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27"/>
              </a:lnSpc>
            </a:pPr>
            <a:r>
              <a:rPr lang="en-US" sz="1050" b="0" i="0" u="none" dirty="0" smtClean="0">
                <a:solidFill>
                  <a:srgbClr val="475569"/>
                </a:solidFill>
                <a:latin typeface="Inter"/>
              </a:rPr>
              <a:t>Enter information from Excel in multiple fields</a:t>
            </a:r>
            <a:r>
              <a:rPr sz="1050" b="0" i="0" u="none" dirty="0" smtClean="0">
                <a:solidFill>
                  <a:srgbClr val="475569"/>
                </a:solidFill>
                <a:latin typeface="Inter"/>
              </a:rPr>
              <a:t>.</a:t>
            </a:r>
            <a:endParaRPr sz="1050" b="0" i="0" u="none" dirty="0">
              <a:solidFill>
                <a:srgbClr val="475569"/>
              </a:solidFill>
              <a:latin typeface="Inter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931306" y="3718390"/>
            <a:ext cx="2328259" cy="1962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275" dirty="0">
                <a:solidFill>
                  <a:srgbClr val="2563EB"/>
                </a:solidFill>
                <a:latin typeface="Poppins SemiBold"/>
              </a:rPr>
              <a:t>5</a:t>
            </a:r>
            <a:r>
              <a:rPr sz="1275" b="0" i="0" u="none" dirty="0" smtClean="0">
                <a:solidFill>
                  <a:srgbClr val="2563EB"/>
                </a:solidFill>
                <a:latin typeface="Poppins SemiBold"/>
              </a:rPr>
              <a:t>. </a:t>
            </a:r>
            <a:r>
              <a:rPr lang="en-US" sz="1275" dirty="0" smtClean="0">
                <a:solidFill>
                  <a:srgbClr val="2563EB"/>
                </a:solidFill>
                <a:latin typeface="Poppins SemiBold"/>
              </a:rPr>
              <a:t>Search for Material Number</a:t>
            </a:r>
            <a:endParaRPr sz="1275" b="0" i="0" u="none" dirty="0">
              <a:solidFill>
                <a:srgbClr val="2563EB"/>
              </a:solidFill>
              <a:latin typeface="Poppins SemiBold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1492426" y="4741137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4328346" y="4741137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7164265" y="4741137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10000185" y="4741137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 rot="5400000">
            <a:off x="10365483" y="3474915"/>
            <a:ext cx="2634676" cy="50169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947590" y="4029839"/>
            <a:ext cx="2217390" cy="410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27"/>
              </a:lnSpc>
            </a:pPr>
            <a:r>
              <a:rPr lang="en-US" sz="1050" dirty="0" smtClean="0">
                <a:solidFill>
                  <a:srgbClr val="475569"/>
                </a:solidFill>
                <a:latin typeface="Inter"/>
              </a:rPr>
              <a:t>Enter the material number in the input mask.</a:t>
            </a:r>
            <a:endParaRPr sz="1050" b="0" i="0" u="none" dirty="0">
              <a:solidFill>
                <a:srgbClr val="475569"/>
              </a:solidFill>
              <a:latin typeface="Inter"/>
            </a:endParaRPr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81978" y="6231491"/>
            <a:ext cx="7224200" cy="31950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2493312" y="6290715"/>
            <a:ext cx="6912866" cy="218008"/>
          </a:xfrm>
          <a:prstGeom prst="rect">
            <a:avLst/>
          </a:prstGeom>
          <a:noFill/>
        </p:spPr>
        <p:txBody>
          <a:bodyPr wrap="square" lIns="142875" tIns="0" rIns="0" bIns="0" anchor="t">
            <a:spAutoFit/>
          </a:bodyPr>
          <a:lstStyle/>
          <a:p>
            <a:pPr>
              <a:lnSpc>
                <a:spcPts val="1743"/>
              </a:lnSpc>
            </a:pPr>
            <a:r>
              <a:rPr sz="1125" b="0" i="0" u="none" dirty="0">
                <a:solidFill>
                  <a:srgbClr val="1E40AF"/>
                </a:solidFill>
                <a:latin typeface="Inter Medium"/>
              </a:rPr>
              <a:t>Process Drawbacks: </a:t>
            </a:r>
            <a:r>
              <a:rPr lang="en-US" sz="1125" dirty="0">
                <a:solidFill>
                  <a:srgbClr val="1E40AF"/>
                </a:solidFill>
                <a:latin typeface="Inter Medium"/>
              </a:rPr>
              <a:t>Repetitive work • Manual data entry • Time consumption • Risk of human error</a:t>
            </a:r>
            <a:endParaRPr sz="1125" b="0" i="0" u="none" dirty="0">
              <a:solidFill>
                <a:srgbClr val="1E40AF"/>
              </a:solidFill>
              <a:latin typeface="Inter Medium"/>
            </a:endParaRP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21874" y="6316205"/>
            <a:ext cx="142875" cy="150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81306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Proposed Solution</a:t>
            </a:r>
            <a:endParaRPr lang="en-US" noProof="0" dirty="0"/>
          </a:p>
        </p:txBody>
      </p:sp>
      <p:sp>
        <p:nvSpPr>
          <p:cNvPr id="6" name="Footer Placeholder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>
                <a:solidFill>
                  <a:srgbClr val="1E467D"/>
                </a:solidFill>
              </a:rPr>
              <a:t>KOMAK </a:t>
            </a:r>
            <a:r>
              <a:rPr lang="de-DE" noProof="0" dirty="0">
                <a:solidFill>
                  <a:srgbClr val="1E467D"/>
                </a:solidFill>
              </a:rPr>
              <a:t>/ </a:t>
            </a:r>
            <a:r>
              <a:rPr lang="en-US" dirty="0">
                <a:solidFill>
                  <a:srgbClr val="1E467D"/>
                </a:solidFill>
              </a:rPr>
              <a:t>Automation of Data Flow From Volkswagen BEON to SAP </a:t>
            </a:r>
            <a:r>
              <a:rPr lang="en-US" dirty="0" err="1">
                <a:solidFill>
                  <a:srgbClr val="1E467D"/>
                </a:solidFill>
              </a:rPr>
              <a:t>DocuLink</a:t>
            </a:r>
            <a:r>
              <a:rPr lang="en-US" dirty="0">
                <a:solidFill>
                  <a:srgbClr val="1E467D"/>
                </a:solidFill>
              </a:rPr>
              <a:t> / Blagoja P.</a:t>
            </a:r>
            <a:r>
              <a:rPr lang="de-DE" noProof="0" dirty="0">
                <a:solidFill>
                  <a:srgbClr val="1E467D"/>
                </a:solidFill>
              </a:rPr>
              <a:t> / 18.0</a:t>
            </a:r>
            <a:r>
              <a:rPr lang="de-DE" dirty="0">
                <a:solidFill>
                  <a:srgbClr val="1E467D"/>
                </a:solidFill>
              </a:rPr>
              <a:t>9</a:t>
            </a:r>
            <a:r>
              <a:rPr lang="de-DE" noProof="0" dirty="0">
                <a:solidFill>
                  <a:srgbClr val="1E467D"/>
                </a:solidFill>
              </a:rPr>
              <a:t>.2026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xmlns="" id="{C4D51B4A-C4D1-F786-34A5-7459C87E16E6}"/>
              </a:ext>
            </a:extLst>
          </p:cNvPr>
          <p:cNvSpPr txBox="1">
            <a:spLocks/>
          </p:cNvSpPr>
          <p:nvPr/>
        </p:nvSpPr>
        <p:spPr>
          <a:xfrm>
            <a:off x="300038" y="895738"/>
            <a:ext cx="11430000" cy="5486400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800" dirty="0"/>
          </a:p>
        </p:txBody>
      </p:sp>
      <p:graphicFrame>
        <p:nvGraphicFramePr>
          <p:cNvPr id="3" name="Diagram 2"/>
          <p:cNvGraphicFramePr/>
          <p:nvPr>
            <p:extLst>
              <p:ext uri="{D42A27DB-BD31-4B8C-83A1-F6EECF244321}">
                <p14:modId xmlns:p14="http://schemas.microsoft.com/office/powerpoint/2010/main" val="467042258"/>
              </p:ext>
            </p:extLst>
          </p:nvPr>
        </p:nvGraphicFramePr>
        <p:xfrm>
          <a:off x="1427271" y="1042456"/>
          <a:ext cx="9852956" cy="5192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203919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It Works</a:t>
            </a:r>
            <a:endParaRPr lang="en-US" noProof="0" dirty="0"/>
          </a:p>
        </p:txBody>
      </p:sp>
      <p:sp>
        <p:nvSpPr>
          <p:cNvPr id="6" name="Footer Placeholder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>
                <a:solidFill>
                  <a:srgbClr val="1E467D"/>
                </a:solidFill>
              </a:rPr>
              <a:t>KOMAK </a:t>
            </a:r>
            <a:r>
              <a:rPr lang="de-DE" noProof="0" dirty="0">
                <a:solidFill>
                  <a:srgbClr val="1E467D"/>
                </a:solidFill>
              </a:rPr>
              <a:t>/ </a:t>
            </a:r>
            <a:r>
              <a:rPr lang="en-US" dirty="0">
                <a:solidFill>
                  <a:srgbClr val="1E467D"/>
                </a:solidFill>
              </a:rPr>
              <a:t>Automation of Data Flow From Volkswagen BEON to SAP </a:t>
            </a:r>
            <a:r>
              <a:rPr lang="en-US" dirty="0" err="1">
                <a:solidFill>
                  <a:srgbClr val="1E467D"/>
                </a:solidFill>
              </a:rPr>
              <a:t>DocuLink</a:t>
            </a:r>
            <a:r>
              <a:rPr lang="en-US" dirty="0">
                <a:solidFill>
                  <a:srgbClr val="1E467D"/>
                </a:solidFill>
              </a:rPr>
              <a:t> / Blagoja P.</a:t>
            </a:r>
            <a:r>
              <a:rPr lang="de-DE" noProof="0" dirty="0">
                <a:solidFill>
                  <a:srgbClr val="1E467D"/>
                </a:solidFill>
              </a:rPr>
              <a:t> / 18.0</a:t>
            </a:r>
            <a:r>
              <a:rPr lang="de-DE" dirty="0">
                <a:solidFill>
                  <a:srgbClr val="1E467D"/>
                </a:solidFill>
              </a:rPr>
              <a:t>9</a:t>
            </a:r>
            <a:r>
              <a:rPr lang="de-DE" noProof="0" dirty="0">
                <a:solidFill>
                  <a:srgbClr val="1E467D"/>
                </a:solidFill>
              </a:rPr>
              <a:t>.2026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7" name="Subtitle 2"/>
          <p:cNvSpPr txBox="1">
            <a:spLocks/>
          </p:cNvSpPr>
          <p:nvPr/>
        </p:nvSpPr>
        <p:spPr>
          <a:xfrm>
            <a:off x="300038" y="840545"/>
            <a:ext cx="6488003" cy="704475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 smtClean="0"/>
              <a:t>Automation 1</a:t>
            </a:r>
            <a:endParaRPr lang="de-DE" sz="1800" dirty="0"/>
          </a:p>
        </p:txBody>
      </p:sp>
      <p:sp>
        <p:nvSpPr>
          <p:cNvPr id="9" name="Subtitle 2"/>
          <p:cNvSpPr txBox="1">
            <a:spLocks/>
          </p:cNvSpPr>
          <p:nvPr/>
        </p:nvSpPr>
        <p:spPr>
          <a:xfrm>
            <a:off x="7278908" y="840545"/>
            <a:ext cx="3851548" cy="704475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 smtClean="0"/>
              <a:t>Automation 2</a:t>
            </a:r>
            <a:endParaRPr lang="de-DE" sz="1800" dirty="0"/>
          </a:p>
        </p:txBody>
      </p:sp>
      <p:pic>
        <p:nvPicPr>
          <p:cNvPr id="3" name="Automation 1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00038" y="1545020"/>
            <a:ext cx="5256380" cy="2956714"/>
          </a:xfrm>
          <a:prstGeom prst="rect">
            <a:avLst/>
          </a:prstGeom>
        </p:spPr>
      </p:pic>
      <p:pic>
        <p:nvPicPr>
          <p:cNvPr id="8" name="Automation 2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5972503" y="1545020"/>
            <a:ext cx="5563478" cy="312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790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video>
              <p:cMediaNode vol="80000">
                <p:cTn id="13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Before vs. After</a:t>
            </a:r>
            <a:endParaRPr lang="en-US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6</a:t>
            </a:fld>
            <a:endParaRPr lang="de-DE" dirty="0"/>
          </a:p>
        </p:txBody>
      </p:sp>
      <p:sp>
        <p:nvSpPr>
          <p:cNvPr id="6" name="Footer Placeholder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>
                <a:solidFill>
                  <a:srgbClr val="1E467D"/>
                </a:solidFill>
              </a:rPr>
              <a:t>KOMAK </a:t>
            </a:r>
            <a:r>
              <a:rPr lang="de-DE" noProof="0" dirty="0">
                <a:solidFill>
                  <a:srgbClr val="1E467D"/>
                </a:solidFill>
              </a:rPr>
              <a:t>/ </a:t>
            </a:r>
            <a:r>
              <a:rPr lang="en-US" dirty="0">
                <a:solidFill>
                  <a:srgbClr val="1E467D"/>
                </a:solidFill>
              </a:rPr>
              <a:t>Automation of Data Flow From Volkswagen BEON to SAP </a:t>
            </a:r>
            <a:r>
              <a:rPr lang="en-US" dirty="0" err="1">
                <a:solidFill>
                  <a:srgbClr val="1E467D"/>
                </a:solidFill>
              </a:rPr>
              <a:t>DocuLink</a:t>
            </a:r>
            <a:r>
              <a:rPr lang="en-US" dirty="0">
                <a:solidFill>
                  <a:srgbClr val="1E467D"/>
                </a:solidFill>
              </a:rPr>
              <a:t> / Blagoja P.</a:t>
            </a:r>
            <a:r>
              <a:rPr lang="de-DE" noProof="0" dirty="0">
                <a:solidFill>
                  <a:srgbClr val="1E467D"/>
                </a:solidFill>
              </a:rPr>
              <a:t> / 18.0</a:t>
            </a:r>
            <a:r>
              <a:rPr lang="de-DE" dirty="0">
                <a:solidFill>
                  <a:srgbClr val="1E467D"/>
                </a:solidFill>
              </a:rPr>
              <a:t>9</a:t>
            </a:r>
            <a:r>
              <a:rPr lang="de-DE" noProof="0" dirty="0">
                <a:solidFill>
                  <a:srgbClr val="1E467D"/>
                </a:solidFill>
              </a:rPr>
              <a:t>.2026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xmlns="" id="{C4D51B4A-C4D1-F786-34A5-7459C87E16E6}"/>
              </a:ext>
            </a:extLst>
          </p:cNvPr>
          <p:cNvSpPr txBox="1">
            <a:spLocks/>
          </p:cNvSpPr>
          <p:nvPr/>
        </p:nvSpPr>
        <p:spPr>
          <a:xfrm>
            <a:off x="300038" y="895738"/>
            <a:ext cx="11430000" cy="5486400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800" dirty="0"/>
          </a:p>
        </p:txBody>
      </p:sp>
      <p:sp>
        <p:nvSpPr>
          <p:cNvPr id="53" name="Subtitle 2"/>
          <p:cNvSpPr txBox="1">
            <a:spLocks/>
          </p:cNvSpPr>
          <p:nvPr/>
        </p:nvSpPr>
        <p:spPr>
          <a:xfrm>
            <a:off x="300038" y="4162097"/>
            <a:ext cx="11430000" cy="2220041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800" dirty="0" smtClean="0"/>
              <a:t>User Interaction</a:t>
            </a:r>
            <a:br>
              <a:rPr lang="de-DE" sz="1800" dirty="0" smtClean="0"/>
            </a:br>
            <a:endParaRPr lang="de-DE" sz="1800" dirty="0" smtClean="0"/>
          </a:p>
          <a:p>
            <a:r>
              <a:rPr lang="de-DE" sz="1800" dirty="0" smtClean="0"/>
              <a:t>Before: Manual processing throughout the entire workflow.</a:t>
            </a:r>
            <a:br>
              <a:rPr lang="de-DE" sz="1800" dirty="0" smtClean="0"/>
            </a:br>
            <a:endParaRPr lang="de-DE" sz="1800" dirty="0" smtClean="0"/>
          </a:p>
          <a:p>
            <a:r>
              <a:rPr lang="de-DE" sz="1800" dirty="0" smtClean="0"/>
              <a:t>After: Start Automation 1 -&gt; Verify Excel -&gt; Start Automation 2</a:t>
            </a:r>
            <a:endParaRPr lang="de-DE" sz="1800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4298817"/>
              </p:ext>
            </p:extLst>
          </p:nvPr>
        </p:nvGraphicFramePr>
        <p:xfrm>
          <a:off x="234731" y="1019210"/>
          <a:ext cx="81280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/>
                <a:gridCol w="4064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Before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After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Manually read</a:t>
                      </a:r>
                      <a:r>
                        <a:rPr lang="en-US" baseline="0" dirty="0" smtClean="0"/>
                        <a:t> PDFs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Automated</a:t>
                      </a:r>
                      <a:r>
                        <a:rPr lang="en-US" baseline="0" dirty="0" smtClean="0"/>
                        <a:t> PDF extraction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Manually enter Excel data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Automated Excel population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Manually search materials in SAP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Automated SAP</a:t>
                      </a:r>
                      <a:r>
                        <a:rPr lang="en-US" baseline="0" dirty="0" smtClean="0"/>
                        <a:t> navigation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Manually enter multiple fields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Automated field population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Manually upload documents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Automated</a:t>
                      </a:r>
                      <a:r>
                        <a:rPr lang="en-US" baseline="0" dirty="0" smtClean="0"/>
                        <a:t> PDF upload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Repeat every step for each material manually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Automatic processing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High manual interaction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Minimal manual interaction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20315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smtClean="0"/>
              <a:t>Results</a:t>
            </a:r>
            <a:endParaRPr lang="en-US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6" name="Footer Placeholder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>
                <a:solidFill>
                  <a:srgbClr val="1E467D"/>
                </a:solidFill>
              </a:rPr>
              <a:t>KOMAK </a:t>
            </a:r>
            <a:r>
              <a:rPr lang="de-DE" noProof="0" dirty="0">
                <a:solidFill>
                  <a:srgbClr val="1E467D"/>
                </a:solidFill>
              </a:rPr>
              <a:t>/ </a:t>
            </a:r>
            <a:r>
              <a:rPr lang="en-US" dirty="0">
                <a:solidFill>
                  <a:srgbClr val="1E467D"/>
                </a:solidFill>
              </a:rPr>
              <a:t>Automation of Data Flow From Volkswagen BEON to SAP </a:t>
            </a:r>
            <a:r>
              <a:rPr lang="en-US" dirty="0" err="1">
                <a:solidFill>
                  <a:srgbClr val="1E467D"/>
                </a:solidFill>
              </a:rPr>
              <a:t>DocuLink</a:t>
            </a:r>
            <a:r>
              <a:rPr lang="en-US" dirty="0">
                <a:solidFill>
                  <a:srgbClr val="1E467D"/>
                </a:solidFill>
              </a:rPr>
              <a:t> / Blagoja P.</a:t>
            </a:r>
            <a:r>
              <a:rPr lang="de-DE" noProof="0" dirty="0">
                <a:solidFill>
                  <a:srgbClr val="1E467D"/>
                </a:solidFill>
              </a:rPr>
              <a:t> / 18.0</a:t>
            </a:r>
            <a:r>
              <a:rPr lang="de-DE" dirty="0">
                <a:solidFill>
                  <a:srgbClr val="1E467D"/>
                </a:solidFill>
              </a:rPr>
              <a:t>9</a:t>
            </a:r>
            <a:r>
              <a:rPr lang="de-DE" noProof="0" dirty="0">
                <a:solidFill>
                  <a:srgbClr val="1E467D"/>
                </a:solidFill>
              </a:rPr>
              <a:t>.2026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xmlns="" id="{C4D51B4A-C4D1-F786-34A5-7459C87E16E6}"/>
              </a:ext>
            </a:extLst>
          </p:cNvPr>
          <p:cNvSpPr txBox="1">
            <a:spLocks/>
          </p:cNvSpPr>
          <p:nvPr/>
        </p:nvSpPr>
        <p:spPr>
          <a:xfrm>
            <a:off x="300038" y="887842"/>
            <a:ext cx="11430000" cy="5486400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800" dirty="0"/>
          </a:p>
        </p:txBody>
      </p:sp>
      <p:sp>
        <p:nvSpPr>
          <p:cNvPr id="53" name="Subtitle 2"/>
          <p:cNvSpPr txBox="1">
            <a:spLocks/>
          </p:cNvSpPr>
          <p:nvPr/>
        </p:nvSpPr>
        <p:spPr>
          <a:xfrm>
            <a:off x="300038" y="878854"/>
            <a:ext cx="3862059" cy="475876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800" dirty="0" smtClean="0"/>
              <a:t>Processing time per document</a:t>
            </a:r>
            <a:endParaRPr lang="de-DE" sz="1800"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4866928"/>
              </p:ext>
            </p:extLst>
          </p:nvPr>
        </p:nvGraphicFramePr>
        <p:xfrm>
          <a:off x="355218" y="1851466"/>
          <a:ext cx="3972417" cy="1655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4139"/>
                <a:gridCol w="1324139"/>
                <a:gridCol w="1324139"/>
              </a:tblGrid>
              <a:tr h="413845">
                <a:tc>
                  <a:txBody>
                    <a:bodyPr/>
                    <a:lstStyle/>
                    <a:p>
                      <a:r>
                        <a:rPr lang="en-US" dirty="0" smtClean="0"/>
                        <a:t>Process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Manual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Automated</a:t>
                      </a:r>
                      <a:endParaRPr lang="en-US" dirty="0"/>
                    </a:p>
                  </a:txBody>
                  <a:tcPr/>
                </a:tc>
              </a:tr>
              <a:tr h="413845">
                <a:tc>
                  <a:txBody>
                    <a:bodyPr/>
                    <a:lstStyle/>
                    <a:p>
                      <a:r>
                        <a:rPr lang="en-US" dirty="0" smtClean="0"/>
                        <a:t>PDF</a:t>
                      </a:r>
                      <a:r>
                        <a:rPr lang="en-US" baseline="0" dirty="0" smtClean="0"/>
                        <a:t> -&gt; Excel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7:35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0:20</a:t>
                      </a:r>
                      <a:endParaRPr lang="en-US" dirty="0"/>
                    </a:p>
                  </a:txBody>
                  <a:tcPr/>
                </a:tc>
              </a:tr>
              <a:tr h="413845">
                <a:tc>
                  <a:txBody>
                    <a:bodyPr/>
                    <a:lstStyle/>
                    <a:p>
                      <a:r>
                        <a:rPr lang="en-US" dirty="0" smtClean="0"/>
                        <a:t>Excel</a:t>
                      </a:r>
                      <a:r>
                        <a:rPr lang="en-US" baseline="0" dirty="0" smtClean="0"/>
                        <a:t> -&gt; SAP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2:45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0:10</a:t>
                      </a:r>
                      <a:endParaRPr lang="en-US" dirty="0"/>
                    </a:p>
                  </a:txBody>
                  <a:tcPr/>
                </a:tc>
              </a:tr>
              <a:tr h="413845">
                <a:tc>
                  <a:txBody>
                    <a:bodyPr/>
                    <a:lstStyle/>
                    <a:p>
                      <a:r>
                        <a:rPr lang="en-US" dirty="0" smtClean="0"/>
                        <a:t>Total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10:20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0:30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8864" y="1452345"/>
            <a:ext cx="2901216" cy="231823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03966" y="2265737"/>
            <a:ext cx="3207119" cy="745477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indent="0" defTabSz="685800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b="1">
                <a:solidFill>
                  <a:schemeClr val="tx2"/>
                </a:solidFill>
              </a:defRPr>
            </a:lvl1pPr>
            <a:lvl2pPr marL="342000" indent="-342000" defTabSz="685800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>
                <a:solidFill>
                  <a:schemeClr val="tx2"/>
                </a:solidFill>
              </a:defRPr>
            </a:lvl2pPr>
            <a:lvl3pPr marL="741600" indent="-342000" defTabSz="685800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>
                <a:solidFill>
                  <a:schemeClr val="tx2"/>
                </a:solidFill>
              </a:defRPr>
            </a:lvl3pPr>
            <a:lvl4pPr marL="1144800" indent="-230400" defTabSz="685800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>
                <a:solidFill>
                  <a:schemeClr val="tx2"/>
                </a:solidFill>
              </a:defRPr>
            </a:lvl4pPr>
            <a:lvl5pPr marL="1602000" indent="-165600" defTabSz="685800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>
                <a:solidFill>
                  <a:schemeClr val="tx2"/>
                </a:solidFill>
              </a:defRPr>
            </a:lvl5pPr>
            <a:lvl6pPr marL="1885950" indent="-171450" defTabSz="68580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/>
            </a:lvl6pPr>
            <a:lvl7pPr marL="2228850" indent="-171450" defTabSz="68580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/>
            </a:lvl7pPr>
            <a:lvl8pPr marL="2571750" indent="-171450" defTabSz="68580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/>
            </a:lvl8pPr>
            <a:lvl9pPr marL="2914650" indent="-171450" defTabSz="68580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/>
            </a:lvl9pPr>
          </a:lstStyle>
          <a:p>
            <a:r>
              <a:rPr lang="de-DE" sz="1400" dirty="0" smtClean="0"/>
              <a:t>Accuracy</a:t>
            </a:r>
          </a:p>
          <a:p>
            <a:r>
              <a:rPr lang="de-DE" sz="1400" dirty="0" smtClean="0"/>
              <a:t>0 mistakes</a:t>
            </a:r>
            <a:endParaRPr sz="1400" dirty="0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3966" y="1842551"/>
            <a:ext cx="350874" cy="350874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5325" y="1456982"/>
            <a:ext cx="2895413" cy="23135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717984" y="2265737"/>
            <a:ext cx="2630093" cy="202159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indent="0" defTabSz="685800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b="1">
                <a:solidFill>
                  <a:schemeClr val="tx2"/>
                </a:solidFill>
              </a:defRPr>
            </a:lvl1pPr>
            <a:lvl2pPr marL="342000" indent="-342000" defTabSz="685800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>
                <a:solidFill>
                  <a:schemeClr val="tx2"/>
                </a:solidFill>
              </a:defRPr>
            </a:lvl2pPr>
            <a:lvl3pPr marL="741600" indent="-342000" defTabSz="685800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>
                <a:solidFill>
                  <a:schemeClr val="tx2"/>
                </a:solidFill>
              </a:defRPr>
            </a:lvl3pPr>
            <a:lvl4pPr marL="1144800" indent="-230400" defTabSz="685800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>
                <a:solidFill>
                  <a:schemeClr val="tx2"/>
                </a:solidFill>
              </a:defRPr>
            </a:lvl4pPr>
            <a:lvl5pPr marL="1602000" indent="-165600" defTabSz="685800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>
                <a:solidFill>
                  <a:schemeClr val="tx2"/>
                </a:solidFill>
              </a:defRPr>
            </a:lvl5pPr>
            <a:lvl6pPr marL="1885950" indent="-171450" defTabSz="68580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/>
            </a:lvl6pPr>
            <a:lvl7pPr marL="2228850" indent="-171450" defTabSz="68580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/>
            </a:lvl7pPr>
            <a:lvl8pPr marL="2571750" indent="-171450" defTabSz="68580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/>
            </a:lvl8pPr>
            <a:lvl9pPr marL="2914650" indent="-171450" defTabSz="68580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/>
            </a:lvl9pPr>
          </a:lstStyle>
          <a:p>
            <a:r>
              <a:rPr lang="de-DE" sz="1400" dirty="0"/>
              <a:t>Performance Improvement</a:t>
            </a:r>
          </a:p>
          <a:p>
            <a:r>
              <a:rPr lang="de-DE" sz="1400" dirty="0"/>
              <a:t>95.2% less processing time</a:t>
            </a:r>
            <a:br>
              <a:rPr lang="de-DE" sz="1400" dirty="0"/>
            </a:br>
            <a:r>
              <a:rPr lang="de-DE" sz="1400" dirty="0"/>
              <a:t>20.7 x faster</a:t>
            </a:r>
          </a:p>
          <a:p>
            <a:r>
              <a:rPr lang="de-DE" sz="1400" dirty="0"/>
              <a:t>Time saved per document</a:t>
            </a:r>
            <a:r>
              <a:rPr lang="de-DE" sz="1400" dirty="0" smtClean="0"/>
              <a:t>: 9:50</a:t>
            </a:r>
            <a:endParaRPr lang="de-DE" sz="1400" dirty="0"/>
          </a:p>
          <a:p>
            <a:endParaRPr lang="de-DE" sz="1400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3450" y="1879950"/>
            <a:ext cx="329688" cy="276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4499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Financial impact – Estimated Labor Cost Saving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8</a:t>
            </a:fld>
            <a:endParaRPr lang="de-DE" dirty="0"/>
          </a:p>
        </p:txBody>
      </p:sp>
      <p:sp>
        <p:nvSpPr>
          <p:cNvPr id="6" name="Footer Placeholder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>
                <a:solidFill>
                  <a:srgbClr val="1E467D"/>
                </a:solidFill>
              </a:rPr>
              <a:t>KOMAK </a:t>
            </a:r>
            <a:r>
              <a:rPr lang="de-DE" noProof="0" dirty="0">
                <a:solidFill>
                  <a:srgbClr val="1E467D"/>
                </a:solidFill>
              </a:rPr>
              <a:t>/ </a:t>
            </a:r>
            <a:r>
              <a:rPr lang="en-US" dirty="0">
                <a:solidFill>
                  <a:srgbClr val="1E467D"/>
                </a:solidFill>
              </a:rPr>
              <a:t>Automation of Data Flow From Volkswagen BEON to SAP </a:t>
            </a:r>
            <a:r>
              <a:rPr lang="en-US" dirty="0" err="1">
                <a:solidFill>
                  <a:srgbClr val="1E467D"/>
                </a:solidFill>
              </a:rPr>
              <a:t>DocuLink</a:t>
            </a:r>
            <a:r>
              <a:rPr lang="en-US" dirty="0">
                <a:solidFill>
                  <a:srgbClr val="1E467D"/>
                </a:solidFill>
              </a:rPr>
              <a:t> / Blagoja P.</a:t>
            </a:r>
            <a:r>
              <a:rPr lang="de-DE" noProof="0" dirty="0">
                <a:solidFill>
                  <a:srgbClr val="1E467D"/>
                </a:solidFill>
              </a:rPr>
              <a:t> / 18.0</a:t>
            </a:r>
            <a:r>
              <a:rPr lang="de-DE" dirty="0">
                <a:solidFill>
                  <a:srgbClr val="1E467D"/>
                </a:solidFill>
              </a:rPr>
              <a:t>9</a:t>
            </a:r>
            <a:r>
              <a:rPr lang="de-DE" noProof="0" dirty="0">
                <a:solidFill>
                  <a:srgbClr val="1E467D"/>
                </a:solidFill>
              </a:rPr>
              <a:t>.2026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8" name="Subtitle 2"/>
          <p:cNvSpPr txBox="1">
            <a:spLocks/>
          </p:cNvSpPr>
          <p:nvPr/>
        </p:nvSpPr>
        <p:spPr>
          <a:xfrm>
            <a:off x="300038" y="1013377"/>
            <a:ext cx="6108646" cy="2509756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800" dirty="0" smtClean="0"/>
              <a:t>Average gross salary at KOSTAL: 79000 MKD / month</a:t>
            </a:r>
          </a:p>
          <a:p>
            <a:r>
              <a:rPr lang="de-DE" sz="1800" dirty="0" smtClean="0"/>
              <a:t>Working time: 160 hours / month</a:t>
            </a:r>
            <a:br>
              <a:rPr lang="de-DE" sz="1800" dirty="0" smtClean="0"/>
            </a:br>
            <a:r>
              <a:rPr lang="de-DE" sz="1800" dirty="0" smtClean="0"/>
              <a:t>Hourly labor cost: 493.15 MKD / hour</a:t>
            </a:r>
          </a:p>
          <a:p>
            <a:endParaRPr lang="de-DE" sz="1800" dirty="0" smtClean="0"/>
          </a:p>
          <a:p>
            <a:r>
              <a:rPr lang="de-DE" sz="1800" dirty="0" smtClean="0"/>
              <a:t>Cost Per Document</a:t>
            </a:r>
          </a:p>
          <a:p>
            <a:r>
              <a:rPr lang="de-DE" sz="1800" dirty="0" smtClean="0"/>
              <a:t>Manual: 10 min. 20s -&gt; ~ 84.90 MKD</a:t>
            </a:r>
          </a:p>
          <a:p>
            <a:r>
              <a:rPr lang="de-DE" sz="1800" dirty="0" smtClean="0"/>
              <a:t>Automated: 30s -&gt; ~ 4.94 MKD</a:t>
            </a:r>
          </a:p>
          <a:p>
            <a:r>
              <a:rPr lang="de-DE" sz="1800" dirty="0" smtClean="0"/>
              <a:t>Saving: 79.96 MKD per document</a:t>
            </a:r>
            <a:endParaRPr lang="de-DE" sz="1800" dirty="0"/>
          </a:p>
        </p:txBody>
      </p:sp>
      <p:sp>
        <p:nvSpPr>
          <p:cNvPr id="10" name="Subtitle 2"/>
          <p:cNvSpPr txBox="1">
            <a:spLocks/>
          </p:cNvSpPr>
          <p:nvPr/>
        </p:nvSpPr>
        <p:spPr>
          <a:xfrm>
            <a:off x="297238" y="3826670"/>
            <a:ext cx="5360626" cy="2619467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800" dirty="0" smtClean="0"/>
              <a:t>Example: 1000 Documents</a:t>
            </a:r>
            <a:br>
              <a:rPr lang="de-DE" sz="1800" dirty="0" smtClean="0"/>
            </a:br>
            <a:r>
              <a:rPr lang="de-DE" sz="1800" dirty="0" smtClean="0"/>
              <a:t>Manual processing: 84,903 MKD</a:t>
            </a:r>
          </a:p>
          <a:p>
            <a:r>
              <a:rPr lang="de-DE" sz="1800" dirty="0" smtClean="0"/>
              <a:t>Automated processing: 4,938 MKD</a:t>
            </a:r>
          </a:p>
          <a:p>
            <a:endParaRPr lang="de-DE" sz="1800" dirty="0"/>
          </a:p>
          <a:p>
            <a:r>
              <a:rPr lang="de-DE" sz="1800" dirty="0" smtClean="0"/>
              <a:t>Saving: 79,965 MKD ~ 1300</a:t>
            </a:r>
            <a:r>
              <a:rPr lang="en-US" sz="1800" dirty="0" smtClean="0"/>
              <a:t>€</a:t>
            </a:r>
          </a:p>
        </p:txBody>
      </p:sp>
      <p:sp>
        <p:nvSpPr>
          <p:cNvPr id="11" name="Subtitle 2"/>
          <p:cNvSpPr txBox="1">
            <a:spLocks/>
          </p:cNvSpPr>
          <p:nvPr/>
        </p:nvSpPr>
        <p:spPr>
          <a:xfrm>
            <a:off x="6294438" y="970007"/>
            <a:ext cx="5013642" cy="1905273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14258286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Scalability</a:t>
            </a:r>
            <a:endParaRPr lang="de-D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9</a:t>
            </a:fld>
            <a:endParaRPr lang="de-DE" dirty="0"/>
          </a:p>
        </p:txBody>
      </p:sp>
      <p:sp>
        <p:nvSpPr>
          <p:cNvPr id="6" name="Footer Placeholder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>
                <a:solidFill>
                  <a:srgbClr val="1E467D"/>
                </a:solidFill>
              </a:rPr>
              <a:t>KOMAK </a:t>
            </a:r>
            <a:r>
              <a:rPr lang="de-DE" noProof="0" dirty="0">
                <a:solidFill>
                  <a:srgbClr val="1E467D"/>
                </a:solidFill>
              </a:rPr>
              <a:t>/ </a:t>
            </a:r>
            <a:r>
              <a:rPr lang="en-US" dirty="0">
                <a:solidFill>
                  <a:srgbClr val="1E467D"/>
                </a:solidFill>
              </a:rPr>
              <a:t>Automation of Data Flow From Volkswagen BEON to SAP </a:t>
            </a:r>
            <a:r>
              <a:rPr lang="en-US" dirty="0" err="1">
                <a:solidFill>
                  <a:srgbClr val="1E467D"/>
                </a:solidFill>
              </a:rPr>
              <a:t>DocuLink</a:t>
            </a:r>
            <a:r>
              <a:rPr lang="en-US" dirty="0">
                <a:solidFill>
                  <a:srgbClr val="1E467D"/>
                </a:solidFill>
              </a:rPr>
              <a:t> / Blagoja P.</a:t>
            </a:r>
            <a:r>
              <a:rPr lang="de-DE" noProof="0" dirty="0">
                <a:solidFill>
                  <a:srgbClr val="1E467D"/>
                </a:solidFill>
              </a:rPr>
              <a:t> / 18.0</a:t>
            </a:r>
            <a:r>
              <a:rPr lang="de-DE" dirty="0">
                <a:solidFill>
                  <a:srgbClr val="1E467D"/>
                </a:solidFill>
              </a:rPr>
              <a:t>9</a:t>
            </a:r>
            <a:r>
              <a:rPr lang="de-DE" noProof="0" dirty="0">
                <a:solidFill>
                  <a:srgbClr val="1E467D"/>
                </a:solidFill>
              </a:rPr>
              <a:t>.2026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8" name="Subtitle 2"/>
          <p:cNvSpPr txBox="1">
            <a:spLocks/>
          </p:cNvSpPr>
          <p:nvPr/>
        </p:nvSpPr>
        <p:spPr>
          <a:xfrm>
            <a:off x="300038" y="1013376"/>
            <a:ext cx="11211242" cy="5031823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800" dirty="0" smtClean="0"/>
              <a:t>The current project was developed for the AQ customer response process.</a:t>
            </a:r>
            <a:br>
              <a:rPr lang="de-DE" sz="1800" dirty="0" smtClean="0"/>
            </a:br>
            <a:r>
              <a:rPr lang="de-DE" sz="1800" dirty="0" smtClean="0"/>
              <a:t>AQ current reference is 1000 documents per year. </a:t>
            </a:r>
            <a:br>
              <a:rPr lang="de-DE" sz="1800" dirty="0" smtClean="0"/>
            </a:br>
            <a:r>
              <a:rPr lang="de-DE" sz="1800" dirty="0" smtClean="0"/>
              <a:t>If similar repetitive processes exist in other departments, the same RPA approach can be applied.</a:t>
            </a:r>
            <a:br>
              <a:rPr lang="de-DE" sz="1800" dirty="0" smtClean="0"/>
            </a:br>
            <a:r>
              <a:rPr lang="de-DE" sz="1800" dirty="0" smtClean="0"/>
              <a:t>This project is not only in use for KOMAK, it can be used in all of the Kostal departments across the world.</a:t>
            </a:r>
          </a:p>
          <a:p>
            <a:endParaRPr lang="de-DE" sz="1800" dirty="0"/>
          </a:p>
          <a:p>
            <a:r>
              <a:rPr lang="de-DE" sz="1800" dirty="0" smtClean="0"/>
              <a:t>Ilustrative scenario: If each department in KOMAK had only 1000 documents per year:</a:t>
            </a:r>
            <a:br>
              <a:rPr lang="de-DE" sz="1800" dirty="0" smtClean="0"/>
            </a:br>
            <a:r>
              <a:rPr lang="de-DE" sz="1800" dirty="0" smtClean="0"/>
              <a:t>6000 documents ~ 980 working hours ~ 480,000 MKD(~7850</a:t>
            </a:r>
            <a:r>
              <a:rPr lang="en-US" sz="1800" dirty="0" smtClean="0"/>
              <a:t>€)</a:t>
            </a:r>
            <a:r>
              <a:rPr lang="de-DE" sz="1800" dirty="0" smtClean="0"/>
              <a:t> annual labor saving.</a:t>
            </a:r>
            <a:br>
              <a:rPr lang="de-DE" sz="1800" dirty="0" smtClean="0"/>
            </a:br>
            <a:endParaRPr lang="de-DE" sz="1800" dirty="0" smtClean="0"/>
          </a:p>
          <a:p>
            <a:r>
              <a:rPr lang="de-DE" sz="1800" dirty="0" smtClean="0"/>
              <a:t/>
            </a:r>
            <a:br>
              <a:rPr lang="de-DE" sz="1800" dirty="0" smtClean="0"/>
            </a:br>
            <a:r>
              <a:rPr lang="de-DE" sz="1800" dirty="0" smtClean="0"/>
              <a:t>The value of the automation increases with the number of repetitive processes and documents it can handle.</a:t>
            </a:r>
            <a:br>
              <a:rPr lang="de-DE" sz="1800" dirty="0" smtClean="0"/>
            </a:br>
            <a:r>
              <a:rPr lang="de-DE" sz="1800" dirty="0" smtClean="0"/>
              <a:t/>
            </a:r>
            <a:br>
              <a:rPr lang="de-DE" sz="1800" dirty="0" smtClean="0"/>
            </a:br>
            <a:endParaRPr lang="de-DE" sz="1800" dirty="0" smtClean="0"/>
          </a:p>
          <a:p>
            <a:r>
              <a:rPr lang="en-US" sz="1800" dirty="0"/>
              <a:t>The </a:t>
            </a:r>
            <a:r>
              <a:rPr lang="en-US" sz="1800" dirty="0" smtClean="0"/>
              <a:t>6000 document </a:t>
            </a:r>
            <a:r>
              <a:rPr lang="en-US" sz="1800" dirty="0"/>
              <a:t>figure is an illustrative scalability scenario, not a reported KOSTAL volume.</a:t>
            </a:r>
            <a:endParaRPr lang="de-DE" sz="1800" dirty="0"/>
          </a:p>
        </p:txBody>
      </p:sp>
      <p:sp>
        <p:nvSpPr>
          <p:cNvPr id="11" name="Subtitle 2"/>
          <p:cNvSpPr txBox="1">
            <a:spLocks/>
          </p:cNvSpPr>
          <p:nvPr/>
        </p:nvSpPr>
        <p:spPr>
          <a:xfrm>
            <a:off x="6294438" y="970007"/>
            <a:ext cx="5013642" cy="1905273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5207454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 smtClean="0"/>
              <a:t>Mentor Contribution - Idea and Process Knowledge: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Original automation idea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P</a:t>
            </a:r>
            <a:r>
              <a:rPr lang="en-US" smtClean="0"/>
              <a:t>rocess </a:t>
            </a:r>
            <a:r>
              <a:rPr lang="en-US" dirty="0" smtClean="0"/>
              <a:t>and workflow explanation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SAP &amp; </a:t>
            </a:r>
            <a:r>
              <a:rPr lang="en-US" dirty="0" err="1" smtClean="0"/>
              <a:t>DocuLink</a:t>
            </a:r>
            <a:r>
              <a:rPr lang="en-US" dirty="0" smtClean="0"/>
              <a:t> guidance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Daily monitoring and feedback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Testing and process validation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50+ hours of mentoring in person, with ongoing support during the whole internship.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r>
              <a:rPr lang="en-US" dirty="0" smtClean="0"/>
              <a:t>My Contribution – Technical Design and Implementation: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Process analysis and automation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Power Automate development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PDF data extraction and parsing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Excel data processing and validation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SAP GUI Scripting / VBScript Implementation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Testing, debugging and optimization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Result analysis and documentation.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Development and Mentorship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e-DE" smtClean="0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10</a:t>
            </a:fld>
            <a:endParaRPr lang="de-DE" dirty="0"/>
          </a:p>
        </p:txBody>
      </p:sp>
      <p:sp>
        <p:nvSpPr>
          <p:cNvPr id="6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300038" y="6558470"/>
            <a:ext cx="5355027" cy="244800"/>
          </a:xfrm>
        </p:spPr>
        <p:txBody>
          <a:bodyPr/>
          <a:lstStyle/>
          <a:p>
            <a:r>
              <a:rPr lang="de-DE" dirty="0">
                <a:solidFill>
                  <a:srgbClr val="1E467D"/>
                </a:solidFill>
              </a:rPr>
              <a:t>KOMAK </a:t>
            </a:r>
            <a:r>
              <a:rPr lang="de-DE" noProof="0" dirty="0">
                <a:solidFill>
                  <a:srgbClr val="1E467D"/>
                </a:solidFill>
              </a:rPr>
              <a:t>/ </a:t>
            </a:r>
            <a:r>
              <a:rPr lang="en-US" dirty="0">
                <a:solidFill>
                  <a:srgbClr val="1E467D"/>
                </a:solidFill>
              </a:rPr>
              <a:t>Automation of Data Flow From Volkswagen BEON to SAP </a:t>
            </a:r>
            <a:r>
              <a:rPr lang="en-US" dirty="0" err="1">
                <a:solidFill>
                  <a:srgbClr val="1E467D"/>
                </a:solidFill>
              </a:rPr>
              <a:t>DocuLink</a:t>
            </a:r>
            <a:r>
              <a:rPr lang="en-US" dirty="0">
                <a:solidFill>
                  <a:srgbClr val="1E467D"/>
                </a:solidFill>
              </a:rPr>
              <a:t> / Blagoja P.</a:t>
            </a:r>
            <a:r>
              <a:rPr lang="de-DE" noProof="0" dirty="0">
                <a:solidFill>
                  <a:srgbClr val="1E467D"/>
                </a:solidFill>
              </a:rPr>
              <a:t> / 18.0</a:t>
            </a:r>
            <a:r>
              <a:rPr lang="de-DE" dirty="0">
                <a:solidFill>
                  <a:srgbClr val="1E467D"/>
                </a:solidFill>
              </a:rPr>
              <a:t>9</a:t>
            </a:r>
            <a:r>
              <a:rPr lang="de-DE" noProof="0" dirty="0">
                <a:solidFill>
                  <a:srgbClr val="1E467D"/>
                </a:solidFill>
              </a:rPr>
              <a:t>.2026</a:t>
            </a:r>
            <a:endParaRPr lang="de-DE" dirty="0">
              <a:solidFill>
                <a:srgbClr val="1E467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06592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11</a:t>
            </a:fld>
            <a:endParaRPr lang="de-DE" dirty="0"/>
          </a:p>
        </p:txBody>
      </p:sp>
      <p:sp>
        <p:nvSpPr>
          <p:cNvPr id="6" name="Footer Placeholder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>
                <a:solidFill>
                  <a:srgbClr val="1E467D"/>
                </a:solidFill>
              </a:rPr>
              <a:t>KOMAK </a:t>
            </a:r>
            <a:r>
              <a:rPr lang="de-DE" noProof="0" dirty="0">
                <a:solidFill>
                  <a:srgbClr val="1E467D"/>
                </a:solidFill>
              </a:rPr>
              <a:t>/ </a:t>
            </a:r>
            <a:r>
              <a:rPr lang="en-US" dirty="0">
                <a:solidFill>
                  <a:srgbClr val="1E467D"/>
                </a:solidFill>
              </a:rPr>
              <a:t>Automation of Data Flow From Volkswagen BEON to SAP </a:t>
            </a:r>
            <a:r>
              <a:rPr lang="en-US" dirty="0" err="1">
                <a:solidFill>
                  <a:srgbClr val="1E467D"/>
                </a:solidFill>
              </a:rPr>
              <a:t>DocuLink</a:t>
            </a:r>
            <a:r>
              <a:rPr lang="en-US" dirty="0">
                <a:solidFill>
                  <a:srgbClr val="1E467D"/>
                </a:solidFill>
              </a:rPr>
              <a:t> / Blagoja P.</a:t>
            </a:r>
            <a:r>
              <a:rPr lang="de-DE" noProof="0" dirty="0">
                <a:solidFill>
                  <a:srgbClr val="1E467D"/>
                </a:solidFill>
              </a:rPr>
              <a:t> / 18.0</a:t>
            </a:r>
            <a:r>
              <a:rPr lang="de-DE" dirty="0">
                <a:solidFill>
                  <a:srgbClr val="1E467D"/>
                </a:solidFill>
              </a:rPr>
              <a:t>9</a:t>
            </a:r>
            <a:r>
              <a:rPr lang="de-DE" noProof="0" dirty="0">
                <a:solidFill>
                  <a:srgbClr val="1E467D"/>
                </a:solidFill>
              </a:rPr>
              <a:t>.2026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8" name="Subtitle 2"/>
          <p:cNvSpPr txBox="1">
            <a:spLocks/>
          </p:cNvSpPr>
          <p:nvPr/>
        </p:nvSpPr>
        <p:spPr>
          <a:xfrm>
            <a:off x="300038" y="2435772"/>
            <a:ext cx="11211242" cy="3609427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4400" dirty="0" smtClean="0"/>
              <a:t>Thank You</a:t>
            </a:r>
          </a:p>
          <a:p>
            <a:pPr algn="ctr"/>
            <a:r>
              <a:rPr lang="de-DE" sz="4400" dirty="0" smtClean="0"/>
              <a:t>Questions?</a:t>
            </a:r>
          </a:p>
        </p:txBody>
      </p:sp>
      <p:sp>
        <p:nvSpPr>
          <p:cNvPr id="11" name="Subtitle 2"/>
          <p:cNvSpPr txBox="1">
            <a:spLocks/>
          </p:cNvSpPr>
          <p:nvPr/>
        </p:nvSpPr>
        <p:spPr>
          <a:xfrm>
            <a:off x="6294438" y="970007"/>
            <a:ext cx="5013642" cy="1905273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32448158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  <p:tag name="EMPOWERCHARTSPROPERTIES_A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g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gIBAQEBAQEBAQEBAQEBAQMAAAAAAAAAAwAAAAMAAAAA/////wQAPwwAAAAAAAAAAAAAIAD///////////////8AAAD////////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CAP///////wUAAAACABAAC3CiPSI5eANAnBxEVIN4Ow4EAAAAAAADAAAAAAADAAAAAwADAAAAAAD///////8DAAEA////////BQAAAAMAEAALU19WOSZlE0C/6ZcHmn4OlAQAAAABAAMAAAACAAMAAAA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CAI4OAAAAAAAAAAAAAP/////GAMYAAAAFX2lkABAAAAAEcKI9Ijl4A0CcHERUg3g7DgNEYXRhAFMAAAAIUHJlc2VudGF0aW9uU2Nhbm5lZEZvckxpbmtlZFNoYXBlcwAAAk51bWJlckZvcm1hdFNlcGFyYXRvck1vZGUACgAAAEF1dG9tYXRpYwAAAk5hbWUAJAAAAExpbmtlZFNoYXBlUHJlc2VudGF0aW9uU2V0dGluZ3NEYXRhABBWZXJzaW9uAAAAAAAJTGFzdFdyaXRlAFfxYIWgAQAAAAEA/////4MAgwAAAAVfaWQAEAAAAARTX1Y5JmUTQL/plweafg6UA0RhdGEAGwAAAARMaW5rZWRTaGFwZURhdGEABQAAAAAAAk5hbWUAGQAAAExpbmtlZFNoYXBlc0RhdGFQcm9wZXJ0eQAQVmVyc2lvbgABAAAACUxhc3RXcml0ZQBA8WCFo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AAgDAAAAAAAAAAAAAAgAf///////////////wAAAP////////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IBAwAAAAIA////////JQAGTGlua2VkU2hhcGVQcmVzZW50YXRpb25TZXR0aW5nc0RhdGFfMAQAAAAAAAUAAAAAAAUAAAADAAUAAAAAAP///////wMAAQEDAAAAAwD///////8aAAZMaW5rZWRTaGFwZXNEYXRhUHJvcGVydHlfMQQAAAABAAUAAAACAAUAAAA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A"/>
  <p:tag name="EMPOWERCHARTSPROPERTIES_LASTWRITEDATE" val="639245409181414170"/>
  <p:tag name="EMPOWERCHARTSPROPERTIES_A_LENGTH" val="2457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nlkCplnVtMHgQjcy6hj4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KAE Design English">
  <a:themeElements>
    <a:clrScheme name="KOSTAL">
      <a:dk1>
        <a:srgbClr val="000000"/>
      </a:dk1>
      <a:lt1>
        <a:sysClr val="window" lastClr="FFFFFF"/>
      </a:lt1>
      <a:dk2>
        <a:srgbClr val="1E467D"/>
      </a:dk2>
      <a:lt2>
        <a:srgbClr val="EBEDED"/>
      </a:lt2>
      <a:accent1>
        <a:srgbClr val="1E467D"/>
      </a:accent1>
      <a:accent2>
        <a:srgbClr val="4B73A5"/>
      </a:accent2>
      <a:accent3>
        <a:srgbClr val="8CAFD2"/>
      </a:accent3>
      <a:accent4>
        <a:srgbClr val="D2E3EB"/>
      </a:accent4>
      <a:accent5>
        <a:srgbClr val="828787"/>
      </a:accent5>
      <a:accent6>
        <a:srgbClr val="C8CDCD"/>
      </a:accent6>
      <a:hlink>
        <a:srgbClr val="1E467D"/>
      </a:hlink>
      <a:folHlink>
        <a:srgbClr val="4B73A5"/>
      </a:folHlink>
    </a:clrScheme>
    <a:fontScheme name="KOST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 w="12700">
          <a:noFill/>
        </a:ln>
      </a:spPr>
      <a:bodyPr lIns="72000" tIns="72000" rIns="72000" bIns="72000" rtlCol="0" anchor="ctr"/>
      <a:lstStyle>
        <a:defPPr algn="ctr">
          <a:defRPr sz="1600" b="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wrap="square" lIns="0" tIns="0" rIns="0" bIns="0" rtlCol="0">
        <a:spAutoFit/>
      </a:bodyPr>
      <a:lstStyle>
        <a:defPPr>
          <a:lnSpc>
            <a:spcPct val="120000"/>
          </a:lnSpc>
          <a:spcBef>
            <a:spcPts val="600"/>
          </a:spcBef>
          <a:defRPr sz="1600" b="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  <a:custClrLst>
    <a:custClr name="Orange">
      <a:srgbClr val="FAC337"/>
    </a:custClr>
    <a:custClr name="Rot">
      <a:srgbClr val="9B0000"/>
    </a:custClr>
    <a:custClr name="Türkis-Blau">
      <a:srgbClr val="007DC8"/>
    </a:custClr>
    <a:custClr name="Grün">
      <a:srgbClr val="B4CD32"/>
    </a:custClr>
    <a:custClr name="RGB 0/155/155">
      <a:srgbClr val="009B9B"/>
    </a:custClr>
    <a:custClr name="Türkis-Grün hell">
      <a:srgbClr val="C8EBDC"/>
    </a:custClr>
    <a:custClr name="Violett">
      <a:srgbClr val="6E2864"/>
    </a:custClr>
    <a:custClr name="Pink">
      <a:srgbClr val="FF008C"/>
    </a:custClr>
    <a:custClr name="Textmarker-Gelb">
      <a:srgbClr val="FFFF00"/>
    </a:custClr>
  </a:custClrLst>
  <a:extLst>
    <a:ext uri="{05A4C25C-085E-4340-85A3-A5531E510DB2}">
      <thm15:themeFamily xmlns:thm15="http://schemas.microsoft.com/office/thememl/2012/main" name="A_englisch.potx" id="{60777013-A92C-4B54-9DDA-6A34DE621489}" vid="{A5A63733-9BCD-46DB-8DFF-36441188C09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haredContentType xmlns="Microsoft.SharePoint.Taxonomy.ContentTypeSync" SourceId="66366095-a18c-4cb3-a1ea-2fdfefee6388" ContentTypeId="0x0101" PreviousValue="false"/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anguage xmlns="http://schemas.microsoft.com/sharepoint/v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81492122497CA4FAA26CBE87F271328" ma:contentTypeVersion="1" ma:contentTypeDescription="Create a new document." ma:contentTypeScope="" ma:versionID="e9f9918e8823961dccacc6ab99440758">
  <xsd:schema xmlns:xsd="http://www.w3.org/2001/XMLSchema" xmlns:xs="http://www.w3.org/2001/XMLSchema" xmlns:p="http://schemas.microsoft.com/office/2006/metadata/properties" xmlns:ns1="http://schemas.microsoft.com/sharepoint/v3" xmlns:ns2="fe2f6e1c-eed5-479c-b9e3-24541315acb7" targetNamespace="http://schemas.microsoft.com/office/2006/metadata/properties" ma:root="true" ma:fieldsID="81384155c07d7edf820f07bbd1fb7e75" ns1:_="" ns2:_="">
    <xsd:import namespace="http://schemas.microsoft.com/sharepoint/v3"/>
    <xsd:import namespace="fe2f6e1c-eed5-479c-b9e3-24541315acb7"/>
    <xsd:element name="properties">
      <xsd:complexType>
        <xsd:sequence>
          <xsd:element name="documentManagement">
            <xsd:complexType>
              <xsd:all>
                <xsd:element ref="ns1:Language" minOccurs="0"/>
                <xsd:element ref="ns2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Language" ma:index="8" nillable="true" ma:displayName="Language" ma:format="Dropdown" ma:internalName="Language">
      <xsd:simpleType>
        <xsd:restriction base="dms:Choice">
          <xsd:enumeration value="Arabic (Saudi Arabia)"/>
          <xsd:enumeration value="Bulgarian (Bulgaria)"/>
          <xsd:enumeration value="Chinese (Hong Kong S.A.R.)"/>
          <xsd:enumeration value="Chinese (People's Republic of China)"/>
          <xsd:enumeration value="Chinese (Taiwan)"/>
          <xsd:enumeration value="Croatian (Croatia)"/>
          <xsd:enumeration value="Czech (Czech Republic)"/>
          <xsd:enumeration value="Danish (Denmark)"/>
          <xsd:enumeration value="Dutch (Netherlands)"/>
          <xsd:enumeration value="English"/>
          <xsd:enumeration value="Estonian (Estonia)"/>
          <xsd:enumeration value="Finnish (Finland)"/>
          <xsd:enumeration value="French (France)"/>
          <xsd:enumeration value="German (Germany)"/>
          <xsd:enumeration value="Greek (Greece)"/>
          <xsd:enumeration value="Hebrew (Israel)"/>
          <xsd:enumeration value="Hindi (India)"/>
          <xsd:enumeration value="Hungarian (Hungary)"/>
          <xsd:enumeration value="Indonesian (Indonesia)"/>
          <xsd:enumeration value="Italian (Italy)"/>
          <xsd:enumeration value="Japanese (Japan)"/>
          <xsd:enumeration value="Korean (Korea)"/>
          <xsd:enumeration value="Latvian (Latvia)"/>
          <xsd:enumeration value="Lithuanian (Lithuania)"/>
          <xsd:enumeration value="Malay (Malaysia)"/>
          <xsd:enumeration value="Norwegian (Bokmal) (Norway)"/>
          <xsd:enumeration value="Polish (Poland)"/>
          <xsd:enumeration value="Portuguese (Brazil)"/>
          <xsd:enumeration value="Portuguese (Portugal)"/>
          <xsd:enumeration value="Romanian (Romania)"/>
          <xsd:enumeration value="Russian (Russia)"/>
          <xsd:enumeration value="Serbian (Latin) (Serbia)"/>
          <xsd:enumeration value="Slovak (Slovakia)"/>
          <xsd:enumeration value="Slovenian (Slovenia)"/>
          <xsd:enumeration value="Spanish (Spain)"/>
          <xsd:enumeration value="Swedish (Sweden)"/>
          <xsd:enumeration value="Thai (Thailand)"/>
          <xsd:enumeration value="Turkish (Turkey)"/>
          <xsd:enumeration value="Ukrainian (Ukraine)"/>
          <xsd:enumeration value="Urdu (Islamic Republic of Pakistan)"/>
          <xsd:enumeration value="Vietnamese (Vietnam)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e2f6e1c-eed5-479c-b9e3-24541315acb7" elementFormDefault="qualified">
    <xsd:import namespace="http://schemas.microsoft.com/office/2006/documentManagement/types"/>
    <xsd:import namespace="http://schemas.microsoft.com/office/infopath/2007/PartnerControls"/>
    <xsd:element name="SharedWithUsers" ma:index="9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803BD61-9464-488F-928B-C99FAFEDD614}">
  <ds:schemaRefs>
    <ds:schemaRef ds:uri="Microsoft.SharePoint.Taxonomy.ContentTypeSync"/>
  </ds:schemaRefs>
</ds:datastoreItem>
</file>

<file path=customXml/itemProps2.xml><?xml version="1.0" encoding="utf-8"?>
<ds:datastoreItem xmlns:ds="http://schemas.openxmlformats.org/officeDocument/2006/customXml" ds:itemID="{224679B6-BAAF-42AA-A041-99D1082FBB18}">
  <ds:schemaRefs>
    <ds:schemaRef ds:uri="http://purl.org/dc/dcmitype/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http://schemas.microsoft.com/office/2006/metadata/properties"/>
    <ds:schemaRef ds:uri="fe2f6e1c-eed5-479c-b9e3-24541315acb7"/>
    <ds:schemaRef ds:uri="http://schemas.microsoft.com/sharepoint/v3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B1250116-2818-446B-AD9E-6A20049BF28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fe2f6e1c-eed5-479c-b9e3-24541315ac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B2996D40-5EDC-4DBF-9B52-0DFA6D2BBC8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A_englisch</Template>
  <TotalTime>3100</TotalTime>
  <Words>695</Words>
  <Application>Microsoft Office PowerPoint</Application>
  <PresentationFormat>Widescreen</PresentationFormat>
  <Paragraphs>147</Paragraphs>
  <Slides>11</Slides>
  <Notes>10</Notes>
  <HiddenSlides>0</HiddenSlides>
  <MMClips>2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Arial</vt:lpstr>
      <vt:lpstr>Calibri</vt:lpstr>
      <vt:lpstr>Inter</vt:lpstr>
      <vt:lpstr>Inter Medium</vt:lpstr>
      <vt:lpstr>Lucida Sans Unicode</vt:lpstr>
      <vt:lpstr>Poppins SemiBold</vt:lpstr>
      <vt:lpstr>Wingdings</vt:lpstr>
      <vt:lpstr>KAE Design English</vt:lpstr>
      <vt:lpstr>think-cell Folie</vt:lpstr>
      <vt:lpstr>Automation of Data Flow from Volkswagen BEON to SAP DocuLink</vt:lpstr>
      <vt:lpstr>Project overview</vt:lpstr>
      <vt:lpstr>Before Automation: The Manual Workflow</vt:lpstr>
      <vt:lpstr>Proposed Solution</vt:lpstr>
      <vt:lpstr>How It Works</vt:lpstr>
      <vt:lpstr>Before vs. After</vt:lpstr>
      <vt:lpstr>Results</vt:lpstr>
      <vt:lpstr>Financial impact – Estimated Labor Cost Saving</vt:lpstr>
      <vt:lpstr>Scalability</vt:lpstr>
      <vt:lpstr>Project Development and Mentorship</vt:lpstr>
      <vt:lpstr>PowerPoint Presentation</vt:lpstr>
    </vt:vector>
  </TitlesOfParts>
  <Company>KOSTAL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Baloski, Goce</dc:creator>
  <cp:lastModifiedBy>Microsoft account</cp:lastModifiedBy>
  <cp:revision>161</cp:revision>
  <dcterms:created xsi:type="dcterms:W3CDTF">2022-08-18T11:59:17Z</dcterms:created>
  <dcterms:modified xsi:type="dcterms:W3CDTF">2026-09-11T08:23:40Z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0x010100C81492122497CA4FAA26CBE87F271328</vt:lpwstr>
  </property>
</Properties>
</file>